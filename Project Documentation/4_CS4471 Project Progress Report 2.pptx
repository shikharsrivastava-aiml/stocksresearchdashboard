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9" r:id="rId4"/>
    <p:sldId id="272" r:id="rId5"/>
    <p:sldId id="260" r:id="rId6"/>
    <p:sldId id="286" r:id="rId7"/>
    <p:sldId id="287" r:id="rId8"/>
    <p:sldId id="291" r:id="rId9"/>
    <p:sldId id="263" r:id="rId10"/>
    <p:sldId id="266" r:id="rId11"/>
    <p:sldId id="273" r:id="rId12"/>
    <p:sldId id="288" r:id="rId13"/>
    <p:sldId id="289" r:id="rId14"/>
    <p:sldId id="278" r:id="rId15"/>
    <p:sldId id="281" r:id="rId16"/>
    <p:sldId id="282" r:id="rId17"/>
    <p:sldId id="279" r:id="rId18"/>
    <p:sldId id="292" r:id="rId19"/>
    <p:sldId id="284" r:id="rId20"/>
    <p:sldId id="267" r:id="rId21"/>
    <p:sldId id="269" r:id="rId22"/>
    <p:sldId id="276" r:id="rId23"/>
    <p:sldId id="270" r:id="rId24"/>
    <p:sldId id="27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6B14A7-1E9C-E121-60B7-ACB15DA14598}" v="56" dt="2025-11-13T22:33:08.751"/>
    <p1510:client id="{16F05886-632B-F281-17AD-D0BF53AB8A65}" v="236" dt="2025-11-13T21:30:53.697"/>
    <p1510:client id="{2E278361-58EF-FFC7-C05C-ACE6237151DA}" v="134" dt="2025-11-13T15:29:19.257"/>
    <p1510:client id="{325D49E1-9157-C604-484A-0EB407B237CB}" v="224" dt="2025-11-13T20:28:05.732"/>
    <p1510:client id="{71D78FB4-5B6B-DC0F-CFD5-3FD7DA8001A0}" v="58" dt="2025-11-13T21:43:37.053"/>
    <p1510:client id="{8D8530B5-55E3-4348-0626-B97B96210DBB}" v="158" dt="2025-11-13T19:26:43.004"/>
    <p1510:client id="{A1C84B6E-75FC-E3F5-9E9A-DFB49C7589B3}" v="203" dt="2025-11-13T15:43:57.420"/>
    <p1510:client id="{F62A5809-096D-4BC6-ED59-10C9A8039CC0}" v="600" dt="2025-11-13T22:43:14.6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diagrams/_rels/data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3.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23.sv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diagrams/_rels/data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sv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2.png"/><Relationship Id="rId5" Type="http://schemas.openxmlformats.org/officeDocument/2006/relationships/image" Target="../media/image28.png"/><Relationship Id="rId4" Type="http://schemas.openxmlformats.org/officeDocument/2006/relationships/image" Target="../media/image21.svg"/></Relationships>
</file>

<file path=ppt/diagrams/_rels/data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image" Target="../media/image29.png"/><Relationship Id="rId5" Type="http://schemas.openxmlformats.org/officeDocument/2006/relationships/image" Target="../media/image23.svg"/><Relationship Id="rId4" Type="http://schemas.openxmlformats.org/officeDocument/2006/relationships/image" Target="../media/image2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23.sv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sv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2.png"/><Relationship Id="rId5" Type="http://schemas.openxmlformats.org/officeDocument/2006/relationships/image" Target="../media/image28.png"/><Relationship Id="rId4" Type="http://schemas.openxmlformats.org/officeDocument/2006/relationships/image" Target="../media/image2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image" Target="../media/image29.png"/><Relationship Id="rId5" Type="http://schemas.openxmlformats.org/officeDocument/2006/relationships/image" Target="../media/image23.svg"/><Relationship Id="rId4"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AEB983-B801-423E-9AB6-3F89E676CD6C}"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794582DE-5615-43B2-863A-94D3F10E21D2}">
      <dgm:prSet/>
      <dgm:spPr/>
      <dgm:t>
        <a:bodyPr/>
        <a:lstStyle/>
        <a:p>
          <a:r>
            <a:rPr lang="en-US"/>
            <a:t>• </a:t>
          </a:r>
          <a:r>
            <a:rPr lang="en-US" b="1"/>
            <a:t>Retry Mechanisms</a:t>
          </a:r>
          <a:r>
            <a:rPr lang="en-US"/>
            <a:t>: Automatic retry with exponential backoff for transient failures</a:t>
          </a:r>
        </a:p>
      </dgm:t>
    </dgm:pt>
    <dgm:pt modelId="{6B508053-3A00-4001-851A-97EE41421AC4}" type="parTrans" cxnId="{0DC3C2A3-4665-4843-9700-B851877F8583}">
      <dgm:prSet/>
      <dgm:spPr/>
      <dgm:t>
        <a:bodyPr/>
        <a:lstStyle/>
        <a:p>
          <a:endParaRPr lang="en-US"/>
        </a:p>
      </dgm:t>
    </dgm:pt>
    <dgm:pt modelId="{1F60A1E1-3B9B-498C-A009-CAD1A34CCF4C}" type="sibTrans" cxnId="{0DC3C2A3-4665-4843-9700-B851877F8583}">
      <dgm:prSet/>
      <dgm:spPr/>
      <dgm:t>
        <a:bodyPr/>
        <a:lstStyle/>
        <a:p>
          <a:endParaRPr lang="en-US"/>
        </a:p>
      </dgm:t>
    </dgm:pt>
    <dgm:pt modelId="{683C4681-F4DB-47F2-9AFA-91602E51E398}">
      <dgm:prSet/>
      <dgm:spPr/>
      <dgm:t>
        <a:bodyPr/>
        <a:lstStyle/>
        <a:p>
          <a:r>
            <a:rPr lang="en-US"/>
            <a:t>• </a:t>
          </a:r>
          <a:r>
            <a:rPr lang="en-US" b="1"/>
            <a:t>Circuit Breaker Pattern</a:t>
          </a:r>
          <a:r>
            <a:rPr lang="en-US"/>
            <a:t>: Prevent repeated calls to failing services, enable auto-recovery</a:t>
          </a:r>
        </a:p>
      </dgm:t>
    </dgm:pt>
    <dgm:pt modelId="{D1BCBEC1-2FDB-4A27-894E-E41D443875B0}" type="parTrans" cxnId="{93DBD1E8-45DE-465A-AF7A-23A944BE78E0}">
      <dgm:prSet/>
      <dgm:spPr/>
      <dgm:t>
        <a:bodyPr/>
        <a:lstStyle/>
        <a:p>
          <a:endParaRPr lang="en-US"/>
        </a:p>
      </dgm:t>
    </dgm:pt>
    <dgm:pt modelId="{F86DA93E-B494-4A88-98F1-75BB7DBBED73}" type="sibTrans" cxnId="{93DBD1E8-45DE-465A-AF7A-23A944BE78E0}">
      <dgm:prSet/>
      <dgm:spPr/>
      <dgm:t>
        <a:bodyPr/>
        <a:lstStyle/>
        <a:p>
          <a:endParaRPr lang="en-US"/>
        </a:p>
      </dgm:t>
    </dgm:pt>
    <dgm:pt modelId="{B50C72D5-D197-454C-A9F6-53C7231A86DB}">
      <dgm:prSet/>
      <dgm:spPr/>
      <dgm:t>
        <a:bodyPr/>
        <a:lstStyle/>
        <a:p>
          <a:r>
            <a:rPr lang="en-US"/>
            <a:t>• </a:t>
          </a:r>
          <a:r>
            <a:rPr lang="en-US" b="1"/>
            <a:t>Fallback Strategies</a:t>
          </a:r>
          <a:r>
            <a:rPr lang="en-US"/>
            <a:t>: Cache-based degraded operation when real-time services unavailable</a:t>
          </a:r>
        </a:p>
      </dgm:t>
    </dgm:pt>
    <dgm:pt modelId="{D5103856-5EF6-4AF1-AF8F-57DE531D5B5C}" type="parTrans" cxnId="{5A6F6FD7-B829-4CF1-9BAF-6CC53D0E74C1}">
      <dgm:prSet/>
      <dgm:spPr/>
      <dgm:t>
        <a:bodyPr/>
        <a:lstStyle/>
        <a:p>
          <a:endParaRPr lang="en-US"/>
        </a:p>
      </dgm:t>
    </dgm:pt>
    <dgm:pt modelId="{A696920D-6C93-4A11-9CBF-19C9E57AD9F3}" type="sibTrans" cxnId="{5A6F6FD7-B829-4CF1-9BAF-6CC53D0E74C1}">
      <dgm:prSet/>
      <dgm:spPr/>
      <dgm:t>
        <a:bodyPr/>
        <a:lstStyle/>
        <a:p>
          <a:endParaRPr lang="en-US"/>
        </a:p>
      </dgm:t>
    </dgm:pt>
    <dgm:pt modelId="{69365C28-2A33-4909-9F66-FD6405CE5A3E}">
      <dgm:prSet/>
      <dgm:spPr/>
      <dgm:t>
        <a:bodyPr/>
        <a:lstStyle/>
        <a:p>
          <a:r>
            <a:rPr lang="en-US"/>
            <a:t>• </a:t>
          </a:r>
          <a:r>
            <a:rPr lang="en-US" b="1"/>
            <a:t>Rate Limit Management</a:t>
          </a:r>
          <a:r>
            <a:rPr lang="en-US"/>
            <a:t>: Intelligent request queuing for external API constraints</a:t>
          </a:r>
        </a:p>
      </dgm:t>
    </dgm:pt>
    <dgm:pt modelId="{D836BFCE-0196-43B0-9913-D1059A98D7A5}" type="parTrans" cxnId="{7609EBA4-08CA-4BC2-9DF5-BAAECB3FA856}">
      <dgm:prSet/>
      <dgm:spPr/>
      <dgm:t>
        <a:bodyPr/>
        <a:lstStyle/>
        <a:p>
          <a:endParaRPr lang="en-US"/>
        </a:p>
      </dgm:t>
    </dgm:pt>
    <dgm:pt modelId="{63999066-7DD0-46FF-92EC-4068E2C1CE84}" type="sibTrans" cxnId="{7609EBA4-08CA-4BC2-9DF5-BAAECB3FA856}">
      <dgm:prSet/>
      <dgm:spPr/>
      <dgm:t>
        <a:bodyPr/>
        <a:lstStyle/>
        <a:p>
          <a:endParaRPr lang="en-US"/>
        </a:p>
      </dgm:t>
    </dgm:pt>
    <dgm:pt modelId="{D1B6092D-4BEE-488B-88A2-F7AE44C3561D}">
      <dgm:prSet/>
      <dgm:spPr/>
      <dgm:t>
        <a:bodyPr/>
        <a:lstStyle/>
        <a:p>
          <a:r>
            <a:rPr lang="en-US"/>
            <a:t>• </a:t>
          </a:r>
          <a:r>
            <a:rPr lang="en-US" b="1"/>
            <a:t>Comprehensive Logging</a:t>
          </a:r>
          <a:r>
            <a:rPr lang="en-US"/>
            <a:t>: Correlation IDs for distributed transaction debugging</a:t>
          </a:r>
        </a:p>
      </dgm:t>
    </dgm:pt>
    <dgm:pt modelId="{0B740275-3053-468F-9807-91D9C57ADF8D}" type="parTrans" cxnId="{390901BA-2105-4CFE-A83F-B8C22D5B055D}">
      <dgm:prSet/>
      <dgm:spPr/>
      <dgm:t>
        <a:bodyPr/>
        <a:lstStyle/>
        <a:p>
          <a:endParaRPr lang="en-US"/>
        </a:p>
      </dgm:t>
    </dgm:pt>
    <dgm:pt modelId="{2274B3FB-2898-498F-9109-AF6D3115A3DB}" type="sibTrans" cxnId="{390901BA-2105-4CFE-A83F-B8C22D5B055D}">
      <dgm:prSet/>
      <dgm:spPr/>
      <dgm:t>
        <a:bodyPr/>
        <a:lstStyle/>
        <a:p>
          <a:endParaRPr lang="en-US"/>
        </a:p>
      </dgm:t>
    </dgm:pt>
    <dgm:pt modelId="{E327D59F-0A97-4956-97C6-3C84B08CC74F}">
      <dgm:prSet/>
      <dgm:spPr/>
      <dgm:t>
        <a:bodyPr/>
        <a:lstStyle/>
        <a:p>
          <a:r>
            <a:rPr lang="en-US"/>
            <a:t>• </a:t>
          </a:r>
          <a:r>
            <a:rPr lang="en-US" b="1"/>
            <a:t>Input Validation</a:t>
          </a:r>
          <a:r>
            <a:rPr lang="en-US"/>
            <a:t>: Sanitization and validation before processing to prevent downstream errors</a:t>
          </a:r>
        </a:p>
      </dgm:t>
    </dgm:pt>
    <dgm:pt modelId="{C9DDE5CA-8470-403A-8EA1-3BE6960A19BE}" type="parTrans" cxnId="{3608F65C-EDC0-4DB7-B9ED-062C8C76B142}">
      <dgm:prSet/>
      <dgm:spPr/>
      <dgm:t>
        <a:bodyPr/>
        <a:lstStyle/>
        <a:p>
          <a:endParaRPr lang="en-US"/>
        </a:p>
      </dgm:t>
    </dgm:pt>
    <dgm:pt modelId="{21A6EA4F-B4AA-42E6-A059-38BF34A6BF4A}" type="sibTrans" cxnId="{3608F65C-EDC0-4DB7-B9ED-062C8C76B142}">
      <dgm:prSet/>
      <dgm:spPr/>
      <dgm:t>
        <a:bodyPr/>
        <a:lstStyle/>
        <a:p>
          <a:endParaRPr lang="en-US"/>
        </a:p>
      </dgm:t>
    </dgm:pt>
    <dgm:pt modelId="{4C5CA2D7-EA0B-4ED0-B047-AC189C1F4195}">
      <dgm:prSet/>
      <dgm:spPr/>
      <dgm:t>
        <a:bodyPr/>
        <a:lstStyle/>
        <a:p>
          <a:r>
            <a:rPr lang="en-US"/>
            <a:t>• </a:t>
          </a:r>
          <a:r>
            <a:rPr lang="en-US" b="1"/>
            <a:t>User-Centric Error Handling</a:t>
          </a:r>
          <a:r>
            <a:rPr lang="en-US"/>
            <a:t>: Actionable error messages with clear recovery paths</a:t>
          </a:r>
        </a:p>
      </dgm:t>
    </dgm:pt>
    <dgm:pt modelId="{26F798E7-7C9F-4C3C-878B-239AD294BE50}" type="parTrans" cxnId="{6F9ECF4E-F59A-4E59-8AAD-919FC9498110}">
      <dgm:prSet/>
      <dgm:spPr/>
      <dgm:t>
        <a:bodyPr/>
        <a:lstStyle/>
        <a:p>
          <a:endParaRPr lang="en-US"/>
        </a:p>
      </dgm:t>
    </dgm:pt>
    <dgm:pt modelId="{66B6DC45-BC17-4857-A04A-FAD0670F8BC7}" type="sibTrans" cxnId="{6F9ECF4E-F59A-4E59-8AAD-919FC9498110}">
      <dgm:prSet/>
      <dgm:spPr/>
      <dgm:t>
        <a:bodyPr/>
        <a:lstStyle/>
        <a:p>
          <a:endParaRPr lang="en-US"/>
        </a:p>
      </dgm:t>
    </dgm:pt>
    <dgm:pt modelId="{86ED7BF3-35FA-48CB-819A-58A1E1A1E219}" type="pres">
      <dgm:prSet presAssocID="{48AEB983-B801-423E-9AB6-3F89E676CD6C}" presName="diagram" presStyleCnt="0">
        <dgm:presLayoutVars>
          <dgm:dir/>
          <dgm:resizeHandles val="exact"/>
        </dgm:presLayoutVars>
      </dgm:prSet>
      <dgm:spPr/>
    </dgm:pt>
    <dgm:pt modelId="{AFB11C22-8921-480F-85E1-D8375279CD5B}" type="pres">
      <dgm:prSet presAssocID="{794582DE-5615-43B2-863A-94D3F10E21D2}" presName="node" presStyleLbl="node1" presStyleIdx="0" presStyleCnt="7">
        <dgm:presLayoutVars>
          <dgm:bulletEnabled val="1"/>
        </dgm:presLayoutVars>
      </dgm:prSet>
      <dgm:spPr/>
    </dgm:pt>
    <dgm:pt modelId="{395C32FF-77C5-4EDC-B95D-694C8D8096DF}" type="pres">
      <dgm:prSet presAssocID="{1F60A1E1-3B9B-498C-A009-CAD1A34CCF4C}" presName="sibTrans" presStyleCnt="0"/>
      <dgm:spPr/>
    </dgm:pt>
    <dgm:pt modelId="{36F41439-BAF7-4C77-86C5-72B1A456F960}" type="pres">
      <dgm:prSet presAssocID="{683C4681-F4DB-47F2-9AFA-91602E51E398}" presName="node" presStyleLbl="node1" presStyleIdx="1" presStyleCnt="7">
        <dgm:presLayoutVars>
          <dgm:bulletEnabled val="1"/>
        </dgm:presLayoutVars>
      </dgm:prSet>
      <dgm:spPr/>
    </dgm:pt>
    <dgm:pt modelId="{1E30A323-BC3E-4927-8D6C-339598E6F1D7}" type="pres">
      <dgm:prSet presAssocID="{F86DA93E-B494-4A88-98F1-75BB7DBBED73}" presName="sibTrans" presStyleCnt="0"/>
      <dgm:spPr/>
    </dgm:pt>
    <dgm:pt modelId="{B2EB15F0-263A-47A2-A28D-202F583FC132}" type="pres">
      <dgm:prSet presAssocID="{B50C72D5-D197-454C-A9F6-53C7231A86DB}" presName="node" presStyleLbl="node1" presStyleIdx="2" presStyleCnt="7">
        <dgm:presLayoutVars>
          <dgm:bulletEnabled val="1"/>
        </dgm:presLayoutVars>
      </dgm:prSet>
      <dgm:spPr/>
    </dgm:pt>
    <dgm:pt modelId="{653FA2D2-55D6-4275-A41B-98B37E62BAEC}" type="pres">
      <dgm:prSet presAssocID="{A696920D-6C93-4A11-9CBF-19C9E57AD9F3}" presName="sibTrans" presStyleCnt="0"/>
      <dgm:spPr/>
    </dgm:pt>
    <dgm:pt modelId="{29C45A78-3BE4-4607-84EE-649CE03F79C6}" type="pres">
      <dgm:prSet presAssocID="{69365C28-2A33-4909-9F66-FD6405CE5A3E}" presName="node" presStyleLbl="node1" presStyleIdx="3" presStyleCnt="7">
        <dgm:presLayoutVars>
          <dgm:bulletEnabled val="1"/>
        </dgm:presLayoutVars>
      </dgm:prSet>
      <dgm:spPr/>
    </dgm:pt>
    <dgm:pt modelId="{4EC386E1-708B-4817-9F4C-E5FB861E1D89}" type="pres">
      <dgm:prSet presAssocID="{63999066-7DD0-46FF-92EC-4068E2C1CE84}" presName="sibTrans" presStyleCnt="0"/>
      <dgm:spPr/>
    </dgm:pt>
    <dgm:pt modelId="{39D88465-6D7D-4FE5-9F62-655E2FE51D10}" type="pres">
      <dgm:prSet presAssocID="{D1B6092D-4BEE-488B-88A2-F7AE44C3561D}" presName="node" presStyleLbl="node1" presStyleIdx="4" presStyleCnt="7">
        <dgm:presLayoutVars>
          <dgm:bulletEnabled val="1"/>
        </dgm:presLayoutVars>
      </dgm:prSet>
      <dgm:spPr/>
    </dgm:pt>
    <dgm:pt modelId="{079935D1-49B8-4051-998C-C8ACD347FD3D}" type="pres">
      <dgm:prSet presAssocID="{2274B3FB-2898-498F-9109-AF6D3115A3DB}" presName="sibTrans" presStyleCnt="0"/>
      <dgm:spPr/>
    </dgm:pt>
    <dgm:pt modelId="{841A2E82-CBA8-49A4-B8BE-3550BA047897}" type="pres">
      <dgm:prSet presAssocID="{E327D59F-0A97-4956-97C6-3C84B08CC74F}" presName="node" presStyleLbl="node1" presStyleIdx="5" presStyleCnt="7">
        <dgm:presLayoutVars>
          <dgm:bulletEnabled val="1"/>
        </dgm:presLayoutVars>
      </dgm:prSet>
      <dgm:spPr/>
    </dgm:pt>
    <dgm:pt modelId="{6EAD5DD3-2183-4944-85F4-9817C1D97504}" type="pres">
      <dgm:prSet presAssocID="{21A6EA4F-B4AA-42E6-A059-38BF34A6BF4A}" presName="sibTrans" presStyleCnt="0"/>
      <dgm:spPr/>
    </dgm:pt>
    <dgm:pt modelId="{A8702FD3-8DA5-4DC4-8E60-3C9EE68DB8E9}" type="pres">
      <dgm:prSet presAssocID="{4C5CA2D7-EA0B-4ED0-B047-AC189C1F4195}" presName="node" presStyleLbl="node1" presStyleIdx="6" presStyleCnt="7">
        <dgm:presLayoutVars>
          <dgm:bulletEnabled val="1"/>
        </dgm:presLayoutVars>
      </dgm:prSet>
      <dgm:spPr/>
    </dgm:pt>
  </dgm:ptLst>
  <dgm:cxnLst>
    <dgm:cxn modelId="{30C2CD19-0A01-4750-B3E7-1F2C77449F2A}" type="presOf" srcId="{D1B6092D-4BEE-488B-88A2-F7AE44C3561D}" destId="{39D88465-6D7D-4FE5-9F62-655E2FE51D10}" srcOrd="0" destOrd="0" presId="urn:microsoft.com/office/officeart/2005/8/layout/default"/>
    <dgm:cxn modelId="{D4D46F30-DAB6-47F6-96B2-5317D1E9244A}" type="presOf" srcId="{48AEB983-B801-423E-9AB6-3F89E676CD6C}" destId="{86ED7BF3-35FA-48CB-819A-58A1E1A1E219}" srcOrd="0" destOrd="0" presId="urn:microsoft.com/office/officeart/2005/8/layout/default"/>
    <dgm:cxn modelId="{BB776E3A-D533-4100-9C9B-938FFBDD865D}" type="presOf" srcId="{E327D59F-0A97-4956-97C6-3C84B08CC74F}" destId="{841A2E82-CBA8-49A4-B8BE-3550BA047897}" srcOrd="0" destOrd="0" presId="urn:microsoft.com/office/officeart/2005/8/layout/default"/>
    <dgm:cxn modelId="{3608F65C-EDC0-4DB7-B9ED-062C8C76B142}" srcId="{48AEB983-B801-423E-9AB6-3F89E676CD6C}" destId="{E327D59F-0A97-4956-97C6-3C84B08CC74F}" srcOrd="5" destOrd="0" parTransId="{C9DDE5CA-8470-403A-8EA1-3BE6960A19BE}" sibTransId="{21A6EA4F-B4AA-42E6-A059-38BF34A6BF4A}"/>
    <dgm:cxn modelId="{6F9ECF4E-F59A-4E59-8AAD-919FC9498110}" srcId="{48AEB983-B801-423E-9AB6-3F89E676CD6C}" destId="{4C5CA2D7-EA0B-4ED0-B047-AC189C1F4195}" srcOrd="6" destOrd="0" parTransId="{26F798E7-7C9F-4C3C-878B-239AD294BE50}" sibTransId="{66B6DC45-BC17-4857-A04A-FAD0670F8BC7}"/>
    <dgm:cxn modelId="{7E568877-8650-4D98-B987-BB65AC930953}" type="presOf" srcId="{683C4681-F4DB-47F2-9AFA-91602E51E398}" destId="{36F41439-BAF7-4C77-86C5-72B1A456F960}" srcOrd="0" destOrd="0" presId="urn:microsoft.com/office/officeart/2005/8/layout/default"/>
    <dgm:cxn modelId="{10910396-5257-4A50-87BB-4B2B3B227EE7}" type="presOf" srcId="{4C5CA2D7-EA0B-4ED0-B047-AC189C1F4195}" destId="{A8702FD3-8DA5-4DC4-8E60-3C9EE68DB8E9}" srcOrd="0" destOrd="0" presId="urn:microsoft.com/office/officeart/2005/8/layout/default"/>
    <dgm:cxn modelId="{0DC3C2A3-4665-4843-9700-B851877F8583}" srcId="{48AEB983-B801-423E-9AB6-3F89E676CD6C}" destId="{794582DE-5615-43B2-863A-94D3F10E21D2}" srcOrd="0" destOrd="0" parTransId="{6B508053-3A00-4001-851A-97EE41421AC4}" sibTransId="{1F60A1E1-3B9B-498C-A009-CAD1A34CCF4C}"/>
    <dgm:cxn modelId="{7609EBA4-08CA-4BC2-9DF5-BAAECB3FA856}" srcId="{48AEB983-B801-423E-9AB6-3F89E676CD6C}" destId="{69365C28-2A33-4909-9F66-FD6405CE5A3E}" srcOrd="3" destOrd="0" parTransId="{D836BFCE-0196-43B0-9913-D1059A98D7A5}" sibTransId="{63999066-7DD0-46FF-92EC-4068E2C1CE84}"/>
    <dgm:cxn modelId="{390901BA-2105-4CFE-A83F-B8C22D5B055D}" srcId="{48AEB983-B801-423E-9AB6-3F89E676CD6C}" destId="{D1B6092D-4BEE-488B-88A2-F7AE44C3561D}" srcOrd="4" destOrd="0" parTransId="{0B740275-3053-468F-9807-91D9C57ADF8D}" sibTransId="{2274B3FB-2898-498F-9109-AF6D3115A3DB}"/>
    <dgm:cxn modelId="{BFE59EBE-4B39-4C25-8C67-6B647B30305A}" type="presOf" srcId="{69365C28-2A33-4909-9F66-FD6405CE5A3E}" destId="{29C45A78-3BE4-4607-84EE-649CE03F79C6}" srcOrd="0" destOrd="0" presId="urn:microsoft.com/office/officeart/2005/8/layout/default"/>
    <dgm:cxn modelId="{7B16D8BE-A36E-4925-84CF-3121E6E59E75}" type="presOf" srcId="{B50C72D5-D197-454C-A9F6-53C7231A86DB}" destId="{B2EB15F0-263A-47A2-A28D-202F583FC132}" srcOrd="0" destOrd="0" presId="urn:microsoft.com/office/officeart/2005/8/layout/default"/>
    <dgm:cxn modelId="{5A6F6FD7-B829-4CF1-9BAF-6CC53D0E74C1}" srcId="{48AEB983-B801-423E-9AB6-3F89E676CD6C}" destId="{B50C72D5-D197-454C-A9F6-53C7231A86DB}" srcOrd="2" destOrd="0" parTransId="{D5103856-5EF6-4AF1-AF8F-57DE531D5B5C}" sibTransId="{A696920D-6C93-4A11-9CBF-19C9E57AD9F3}"/>
    <dgm:cxn modelId="{8F714CDB-742A-457C-906E-EBD3D995ADCE}" type="presOf" srcId="{794582DE-5615-43B2-863A-94D3F10E21D2}" destId="{AFB11C22-8921-480F-85E1-D8375279CD5B}" srcOrd="0" destOrd="0" presId="urn:microsoft.com/office/officeart/2005/8/layout/default"/>
    <dgm:cxn modelId="{93DBD1E8-45DE-465A-AF7A-23A944BE78E0}" srcId="{48AEB983-B801-423E-9AB6-3F89E676CD6C}" destId="{683C4681-F4DB-47F2-9AFA-91602E51E398}" srcOrd="1" destOrd="0" parTransId="{D1BCBEC1-2FDB-4A27-894E-E41D443875B0}" sibTransId="{F86DA93E-B494-4A88-98F1-75BB7DBBED73}"/>
    <dgm:cxn modelId="{701C9DBF-A865-4E7A-9D63-73ECB09F0444}" type="presParOf" srcId="{86ED7BF3-35FA-48CB-819A-58A1E1A1E219}" destId="{AFB11C22-8921-480F-85E1-D8375279CD5B}" srcOrd="0" destOrd="0" presId="urn:microsoft.com/office/officeart/2005/8/layout/default"/>
    <dgm:cxn modelId="{23E29763-61EB-440B-AC51-319455D92F5E}" type="presParOf" srcId="{86ED7BF3-35FA-48CB-819A-58A1E1A1E219}" destId="{395C32FF-77C5-4EDC-B95D-694C8D8096DF}" srcOrd="1" destOrd="0" presId="urn:microsoft.com/office/officeart/2005/8/layout/default"/>
    <dgm:cxn modelId="{250933BF-4067-43A9-9FF1-65F6EC2FDDF8}" type="presParOf" srcId="{86ED7BF3-35FA-48CB-819A-58A1E1A1E219}" destId="{36F41439-BAF7-4C77-86C5-72B1A456F960}" srcOrd="2" destOrd="0" presId="urn:microsoft.com/office/officeart/2005/8/layout/default"/>
    <dgm:cxn modelId="{E2CA600A-8B6C-45CC-835C-FDC6EC668A51}" type="presParOf" srcId="{86ED7BF3-35FA-48CB-819A-58A1E1A1E219}" destId="{1E30A323-BC3E-4927-8D6C-339598E6F1D7}" srcOrd="3" destOrd="0" presId="urn:microsoft.com/office/officeart/2005/8/layout/default"/>
    <dgm:cxn modelId="{C68F9A35-4C35-4A2E-88CB-2903888AD68C}" type="presParOf" srcId="{86ED7BF3-35FA-48CB-819A-58A1E1A1E219}" destId="{B2EB15F0-263A-47A2-A28D-202F583FC132}" srcOrd="4" destOrd="0" presId="urn:microsoft.com/office/officeart/2005/8/layout/default"/>
    <dgm:cxn modelId="{E99D39A7-7506-41A2-B68E-A57D05E651CF}" type="presParOf" srcId="{86ED7BF3-35FA-48CB-819A-58A1E1A1E219}" destId="{653FA2D2-55D6-4275-A41B-98B37E62BAEC}" srcOrd="5" destOrd="0" presId="urn:microsoft.com/office/officeart/2005/8/layout/default"/>
    <dgm:cxn modelId="{CEA2F429-C76A-40F6-A8C9-B3E1A45223B2}" type="presParOf" srcId="{86ED7BF3-35FA-48CB-819A-58A1E1A1E219}" destId="{29C45A78-3BE4-4607-84EE-649CE03F79C6}" srcOrd="6" destOrd="0" presId="urn:microsoft.com/office/officeart/2005/8/layout/default"/>
    <dgm:cxn modelId="{2E6C76F4-3355-4B56-9AE8-B197F7B4E38A}" type="presParOf" srcId="{86ED7BF3-35FA-48CB-819A-58A1E1A1E219}" destId="{4EC386E1-708B-4817-9F4C-E5FB861E1D89}" srcOrd="7" destOrd="0" presId="urn:microsoft.com/office/officeart/2005/8/layout/default"/>
    <dgm:cxn modelId="{6DCF69B1-3A83-4C4A-B4DC-5C8A97974FFE}" type="presParOf" srcId="{86ED7BF3-35FA-48CB-819A-58A1E1A1E219}" destId="{39D88465-6D7D-4FE5-9F62-655E2FE51D10}" srcOrd="8" destOrd="0" presId="urn:microsoft.com/office/officeart/2005/8/layout/default"/>
    <dgm:cxn modelId="{F8C8209F-6CFC-4365-BE78-8EBD3B7F70D9}" type="presParOf" srcId="{86ED7BF3-35FA-48CB-819A-58A1E1A1E219}" destId="{079935D1-49B8-4051-998C-C8ACD347FD3D}" srcOrd="9" destOrd="0" presId="urn:microsoft.com/office/officeart/2005/8/layout/default"/>
    <dgm:cxn modelId="{A436A1AD-23E4-4588-AB91-175FFACC27A7}" type="presParOf" srcId="{86ED7BF3-35FA-48CB-819A-58A1E1A1E219}" destId="{841A2E82-CBA8-49A4-B8BE-3550BA047897}" srcOrd="10" destOrd="0" presId="urn:microsoft.com/office/officeart/2005/8/layout/default"/>
    <dgm:cxn modelId="{3B15BD72-AC8E-415C-9FD1-A051E744FF1B}" type="presParOf" srcId="{86ED7BF3-35FA-48CB-819A-58A1E1A1E219}" destId="{6EAD5DD3-2183-4944-85F4-9817C1D97504}" srcOrd="11" destOrd="0" presId="urn:microsoft.com/office/officeart/2005/8/layout/default"/>
    <dgm:cxn modelId="{C8711EB0-9AD7-45FB-8419-F723A428B39B}" type="presParOf" srcId="{86ED7BF3-35FA-48CB-819A-58A1E1A1E219}" destId="{A8702FD3-8DA5-4DC4-8E60-3C9EE68DB8E9}"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0CBA05-D2A2-4BD7-B6FE-78E76C8F01C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EBD49F4-9E48-4561-986F-507FDC6E9F14}">
      <dgm:prSet/>
      <dgm:spPr/>
      <dgm:t>
        <a:bodyPr/>
        <a:lstStyle/>
        <a:p>
          <a:pPr>
            <a:lnSpc>
              <a:spcPct val="100000"/>
            </a:lnSpc>
          </a:pPr>
          <a:r>
            <a:rPr lang="en-US"/>
            <a:t>Deploy </a:t>
          </a:r>
          <a:r>
            <a:rPr lang="en-US" b="1"/>
            <a:t>Earnings Call Service v1</a:t>
          </a:r>
          <a:r>
            <a:rPr lang="en-US"/>
            <a:t> (baseline)</a:t>
          </a:r>
        </a:p>
      </dgm:t>
    </dgm:pt>
    <dgm:pt modelId="{305F346F-0559-4D16-8324-CBC368A805D6}" type="parTrans" cxnId="{ACA57913-4547-4E2F-A948-B47B9C3383AA}">
      <dgm:prSet/>
      <dgm:spPr/>
      <dgm:t>
        <a:bodyPr/>
        <a:lstStyle/>
        <a:p>
          <a:endParaRPr lang="en-US"/>
        </a:p>
      </dgm:t>
    </dgm:pt>
    <dgm:pt modelId="{9A67568E-D649-48CE-9D83-FF7C73259530}" type="sibTrans" cxnId="{ACA57913-4547-4E2F-A948-B47B9C3383AA}">
      <dgm:prSet/>
      <dgm:spPr/>
      <dgm:t>
        <a:bodyPr/>
        <a:lstStyle/>
        <a:p>
          <a:pPr>
            <a:lnSpc>
              <a:spcPct val="100000"/>
            </a:lnSpc>
          </a:pPr>
          <a:endParaRPr lang="en-US"/>
        </a:p>
      </dgm:t>
    </dgm:pt>
    <dgm:pt modelId="{2389E863-8A47-4603-B487-B599F31295C3}">
      <dgm:prSet/>
      <dgm:spPr/>
      <dgm:t>
        <a:bodyPr/>
        <a:lstStyle/>
        <a:p>
          <a:pPr>
            <a:lnSpc>
              <a:spcPct val="100000"/>
            </a:lnSpc>
          </a:pPr>
          <a:r>
            <a:rPr lang="en-US"/>
            <a:t>Configure </a:t>
          </a:r>
          <a:r>
            <a:rPr lang="en-US" b="1"/>
            <a:t>User Database Service</a:t>
          </a:r>
          <a:r>
            <a:rPr lang="en-US"/>
            <a:t> (auth, access control)</a:t>
          </a:r>
        </a:p>
      </dgm:t>
    </dgm:pt>
    <dgm:pt modelId="{6B9C0CC5-04EC-429F-8C2A-35A21382526B}" type="parTrans" cxnId="{B9C959AB-CDFE-48FF-8728-AA5176721974}">
      <dgm:prSet/>
      <dgm:spPr/>
      <dgm:t>
        <a:bodyPr/>
        <a:lstStyle/>
        <a:p>
          <a:endParaRPr lang="en-US"/>
        </a:p>
      </dgm:t>
    </dgm:pt>
    <dgm:pt modelId="{055530DD-0AFD-4766-9E49-9D073C0628B5}" type="sibTrans" cxnId="{B9C959AB-CDFE-48FF-8728-AA5176721974}">
      <dgm:prSet/>
      <dgm:spPr/>
      <dgm:t>
        <a:bodyPr/>
        <a:lstStyle/>
        <a:p>
          <a:pPr>
            <a:lnSpc>
              <a:spcPct val="100000"/>
            </a:lnSpc>
          </a:pPr>
          <a:endParaRPr lang="en-US"/>
        </a:p>
      </dgm:t>
    </dgm:pt>
    <dgm:pt modelId="{8521E6A6-A714-4924-BD27-C93B137B1C69}">
      <dgm:prSet/>
      <dgm:spPr/>
      <dgm:t>
        <a:bodyPr/>
        <a:lstStyle/>
        <a:p>
          <a:pPr>
            <a:lnSpc>
              <a:spcPct val="100000"/>
            </a:lnSpc>
          </a:pPr>
          <a:r>
            <a:rPr lang="en-US"/>
            <a:t>Establish </a:t>
          </a:r>
          <a:r>
            <a:rPr lang="en-US" b="1"/>
            <a:t>API Gateway</a:t>
          </a:r>
          <a:r>
            <a:rPr lang="en-US"/>
            <a:t>, and </a:t>
          </a:r>
          <a:r>
            <a:rPr lang="en-US" b="1"/>
            <a:t>shared database</a:t>
          </a:r>
          <a:endParaRPr lang="en-US"/>
        </a:p>
      </dgm:t>
    </dgm:pt>
    <dgm:pt modelId="{32CED462-1075-4A83-89E4-A9B7172830BD}" type="parTrans" cxnId="{A9DEC97B-5FAC-4CAD-982E-C119BF3E8700}">
      <dgm:prSet/>
      <dgm:spPr/>
      <dgm:t>
        <a:bodyPr/>
        <a:lstStyle/>
        <a:p>
          <a:endParaRPr lang="en-US"/>
        </a:p>
      </dgm:t>
    </dgm:pt>
    <dgm:pt modelId="{D25F9F56-378D-4842-84A8-03A8A57E0B6C}" type="sibTrans" cxnId="{A9DEC97B-5FAC-4CAD-982E-C119BF3E8700}">
      <dgm:prSet/>
      <dgm:spPr/>
      <dgm:t>
        <a:bodyPr/>
        <a:lstStyle/>
        <a:p>
          <a:pPr>
            <a:lnSpc>
              <a:spcPct val="100000"/>
            </a:lnSpc>
          </a:pPr>
          <a:endParaRPr lang="en-US"/>
        </a:p>
      </dgm:t>
    </dgm:pt>
    <dgm:pt modelId="{6B2EEDFA-4547-401C-BDCC-D5894F398765}">
      <dgm:prSet/>
      <dgm:spPr/>
      <dgm:t>
        <a:bodyPr/>
        <a:lstStyle/>
        <a:p>
          <a:pPr>
            <a:lnSpc>
              <a:spcPct val="100000"/>
            </a:lnSpc>
          </a:pPr>
          <a:r>
            <a:rPr lang="en-US"/>
            <a:t>Set up </a:t>
          </a:r>
          <a:r>
            <a:rPr lang="en-US" b="1"/>
            <a:t>logging, monitoring, and environment configs</a:t>
          </a:r>
          <a:endParaRPr lang="en-US"/>
        </a:p>
      </dgm:t>
    </dgm:pt>
    <dgm:pt modelId="{B122C60F-1EB7-4425-9A21-23D5C91BEE27}" type="parTrans" cxnId="{7D68549D-1D4D-41ED-BD26-EA2B35223823}">
      <dgm:prSet/>
      <dgm:spPr/>
      <dgm:t>
        <a:bodyPr/>
        <a:lstStyle/>
        <a:p>
          <a:endParaRPr lang="en-US"/>
        </a:p>
      </dgm:t>
    </dgm:pt>
    <dgm:pt modelId="{309B8D05-D6D8-428B-B41B-59EE2C7B7702}" type="sibTrans" cxnId="{7D68549D-1D4D-41ED-BD26-EA2B35223823}">
      <dgm:prSet/>
      <dgm:spPr/>
      <dgm:t>
        <a:bodyPr/>
        <a:lstStyle/>
        <a:p>
          <a:endParaRPr lang="en-US"/>
        </a:p>
      </dgm:t>
    </dgm:pt>
    <dgm:pt modelId="{7DBEE98E-B9F0-4911-9BA1-299ADBC9F11B}" type="pres">
      <dgm:prSet presAssocID="{D20CBA05-D2A2-4BD7-B6FE-78E76C8F01CD}" presName="root" presStyleCnt="0">
        <dgm:presLayoutVars>
          <dgm:dir/>
          <dgm:resizeHandles val="exact"/>
        </dgm:presLayoutVars>
      </dgm:prSet>
      <dgm:spPr/>
    </dgm:pt>
    <dgm:pt modelId="{4CF96B5A-D627-4792-918D-8A6059BAB99B}" type="pres">
      <dgm:prSet presAssocID="{EEBD49F4-9E48-4561-986F-507FDC6E9F14}" presName="compNode" presStyleCnt="0"/>
      <dgm:spPr/>
    </dgm:pt>
    <dgm:pt modelId="{847B7B52-F340-49F6-9AF9-054AD4995529}" type="pres">
      <dgm:prSet presAssocID="{EEBD49F4-9E48-4561-986F-507FDC6E9F1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C607087E-3533-4846-8048-CD11A413C25B}" type="pres">
      <dgm:prSet presAssocID="{EEBD49F4-9E48-4561-986F-507FDC6E9F14}" presName="spaceRect" presStyleCnt="0"/>
      <dgm:spPr/>
    </dgm:pt>
    <dgm:pt modelId="{29A613BE-CDC3-4093-B285-967121C785D5}" type="pres">
      <dgm:prSet presAssocID="{EEBD49F4-9E48-4561-986F-507FDC6E9F14}" presName="textRect" presStyleLbl="revTx" presStyleIdx="0" presStyleCnt="4">
        <dgm:presLayoutVars>
          <dgm:chMax val="1"/>
          <dgm:chPref val="1"/>
        </dgm:presLayoutVars>
      </dgm:prSet>
      <dgm:spPr/>
    </dgm:pt>
    <dgm:pt modelId="{9ADA1799-4F4C-40D7-87D8-A20E3B0F901A}" type="pres">
      <dgm:prSet presAssocID="{9A67568E-D649-48CE-9D83-FF7C73259530}" presName="sibTrans" presStyleCnt="0"/>
      <dgm:spPr/>
    </dgm:pt>
    <dgm:pt modelId="{71FC3DE9-28D7-4407-AB24-D5D9B10565B0}" type="pres">
      <dgm:prSet presAssocID="{2389E863-8A47-4603-B487-B599F31295C3}" presName="compNode" presStyleCnt="0"/>
      <dgm:spPr/>
    </dgm:pt>
    <dgm:pt modelId="{89C24B5B-F320-4CA2-A445-561E1719ED32}" type="pres">
      <dgm:prSet presAssocID="{2389E863-8A47-4603-B487-B599F31295C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4FAC3F23-ADC6-494A-9723-DAECEDA0D790}" type="pres">
      <dgm:prSet presAssocID="{2389E863-8A47-4603-B487-B599F31295C3}" presName="spaceRect" presStyleCnt="0"/>
      <dgm:spPr/>
    </dgm:pt>
    <dgm:pt modelId="{59674F96-5778-4D6D-ADF1-F60F00528B0F}" type="pres">
      <dgm:prSet presAssocID="{2389E863-8A47-4603-B487-B599F31295C3}" presName="textRect" presStyleLbl="revTx" presStyleIdx="1" presStyleCnt="4">
        <dgm:presLayoutVars>
          <dgm:chMax val="1"/>
          <dgm:chPref val="1"/>
        </dgm:presLayoutVars>
      </dgm:prSet>
      <dgm:spPr/>
    </dgm:pt>
    <dgm:pt modelId="{9ADEB5B7-1AD0-47F4-A982-6460496DDB06}" type="pres">
      <dgm:prSet presAssocID="{055530DD-0AFD-4766-9E49-9D073C0628B5}" presName="sibTrans" presStyleCnt="0"/>
      <dgm:spPr/>
    </dgm:pt>
    <dgm:pt modelId="{33E89687-581B-496E-9933-5DD8AC731D92}" type="pres">
      <dgm:prSet presAssocID="{8521E6A6-A714-4924-BD27-C93B137B1C69}" presName="compNode" presStyleCnt="0"/>
      <dgm:spPr/>
    </dgm:pt>
    <dgm:pt modelId="{EA38B6AC-01E9-4FF5-82A3-E573A88BB56C}" type="pres">
      <dgm:prSet presAssocID="{8521E6A6-A714-4924-BD27-C93B137B1C6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rver"/>
        </a:ext>
      </dgm:extLst>
    </dgm:pt>
    <dgm:pt modelId="{ED6DA322-9CE5-4EFF-98A2-FB01F8C24D3E}" type="pres">
      <dgm:prSet presAssocID="{8521E6A6-A714-4924-BD27-C93B137B1C69}" presName="spaceRect" presStyleCnt="0"/>
      <dgm:spPr/>
    </dgm:pt>
    <dgm:pt modelId="{BDBFCBC3-9950-48F2-A640-0D2540C42531}" type="pres">
      <dgm:prSet presAssocID="{8521E6A6-A714-4924-BD27-C93B137B1C69}" presName="textRect" presStyleLbl="revTx" presStyleIdx="2" presStyleCnt="4">
        <dgm:presLayoutVars>
          <dgm:chMax val="1"/>
          <dgm:chPref val="1"/>
        </dgm:presLayoutVars>
      </dgm:prSet>
      <dgm:spPr/>
    </dgm:pt>
    <dgm:pt modelId="{71A298D5-CC3D-4A50-B0C2-73D48E057173}" type="pres">
      <dgm:prSet presAssocID="{D25F9F56-378D-4842-84A8-03A8A57E0B6C}" presName="sibTrans" presStyleCnt="0"/>
      <dgm:spPr/>
    </dgm:pt>
    <dgm:pt modelId="{A76E2E13-DB74-4A00-B0F5-9FCD5D4494A4}" type="pres">
      <dgm:prSet presAssocID="{6B2EEDFA-4547-401C-BDCC-D5894F398765}" presName="compNode" presStyleCnt="0"/>
      <dgm:spPr/>
    </dgm:pt>
    <dgm:pt modelId="{8266F582-22D7-4DFE-831B-E9EF1B55A18A}" type="pres">
      <dgm:prSet presAssocID="{6B2EEDFA-4547-401C-BDCC-D5894F39876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No Smoking"/>
        </a:ext>
      </dgm:extLst>
    </dgm:pt>
    <dgm:pt modelId="{E645C724-4726-487A-86CD-7E741BD6555E}" type="pres">
      <dgm:prSet presAssocID="{6B2EEDFA-4547-401C-BDCC-D5894F398765}" presName="spaceRect" presStyleCnt="0"/>
      <dgm:spPr/>
    </dgm:pt>
    <dgm:pt modelId="{8DDC413B-7369-443D-B997-D6C219C2C9AF}" type="pres">
      <dgm:prSet presAssocID="{6B2EEDFA-4547-401C-BDCC-D5894F398765}" presName="textRect" presStyleLbl="revTx" presStyleIdx="3" presStyleCnt="4">
        <dgm:presLayoutVars>
          <dgm:chMax val="1"/>
          <dgm:chPref val="1"/>
        </dgm:presLayoutVars>
      </dgm:prSet>
      <dgm:spPr/>
    </dgm:pt>
  </dgm:ptLst>
  <dgm:cxnLst>
    <dgm:cxn modelId="{ACA57913-4547-4E2F-A948-B47B9C3383AA}" srcId="{D20CBA05-D2A2-4BD7-B6FE-78E76C8F01CD}" destId="{EEBD49F4-9E48-4561-986F-507FDC6E9F14}" srcOrd="0" destOrd="0" parTransId="{305F346F-0559-4D16-8324-CBC368A805D6}" sibTransId="{9A67568E-D649-48CE-9D83-FF7C73259530}"/>
    <dgm:cxn modelId="{4B52FA36-2A7B-43D7-91B2-0FDF678606EB}" type="presOf" srcId="{8521E6A6-A714-4924-BD27-C93B137B1C69}" destId="{BDBFCBC3-9950-48F2-A640-0D2540C42531}" srcOrd="0" destOrd="0" presId="urn:microsoft.com/office/officeart/2018/2/layout/IconLabelList"/>
    <dgm:cxn modelId="{538B7842-3862-4AAD-B09D-0FE50C1D37D2}" type="presOf" srcId="{6B2EEDFA-4547-401C-BDCC-D5894F398765}" destId="{8DDC413B-7369-443D-B997-D6C219C2C9AF}" srcOrd="0" destOrd="0" presId="urn:microsoft.com/office/officeart/2018/2/layout/IconLabelList"/>
    <dgm:cxn modelId="{FD7B0E43-EA19-48B2-BE3E-37AB0DAEA07A}" type="presOf" srcId="{2389E863-8A47-4603-B487-B599F31295C3}" destId="{59674F96-5778-4D6D-ADF1-F60F00528B0F}" srcOrd="0" destOrd="0" presId="urn:microsoft.com/office/officeart/2018/2/layout/IconLabelList"/>
    <dgm:cxn modelId="{F470A148-E810-44F0-9CB4-0B2CBB6662DA}" type="presOf" srcId="{D20CBA05-D2A2-4BD7-B6FE-78E76C8F01CD}" destId="{7DBEE98E-B9F0-4911-9BA1-299ADBC9F11B}" srcOrd="0" destOrd="0" presId="urn:microsoft.com/office/officeart/2018/2/layout/IconLabelList"/>
    <dgm:cxn modelId="{A9DEC97B-5FAC-4CAD-982E-C119BF3E8700}" srcId="{D20CBA05-D2A2-4BD7-B6FE-78E76C8F01CD}" destId="{8521E6A6-A714-4924-BD27-C93B137B1C69}" srcOrd="2" destOrd="0" parTransId="{32CED462-1075-4A83-89E4-A9B7172830BD}" sibTransId="{D25F9F56-378D-4842-84A8-03A8A57E0B6C}"/>
    <dgm:cxn modelId="{7D68549D-1D4D-41ED-BD26-EA2B35223823}" srcId="{D20CBA05-D2A2-4BD7-B6FE-78E76C8F01CD}" destId="{6B2EEDFA-4547-401C-BDCC-D5894F398765}" srcOrd="3" destOrd="0" parTransId="{B122C60F-1EB7-4425-9A21-23D5C91BEE27}" sibTransId="{309B8D05-D6D8-428B-B41B-59EE2C7B7702}"/>
    <dgm:cxn modelId="{B9C959AB-CDFE-48FF-8728-AA5176721974}" srcId="{D20CBA05-D2A2-4BD7-B6FE-78E76C8F01CD}" destId="{2389E863-8A47-4603-B487-B599F31295C3}" srcOrd="1" destOrd="0" parTransId="{6B9C0CC5-04EC-429F-8C2A-35A21382526B}" sibTransId="{055530DD-0AFD-4766-9E49-9D073C0628B5}"/>
    <dgm:cxn modelId="{0FD997B2-8ACF-4A9F-9D5C-66FC2EC69B94}" type="presOf" srcId="{EEBD49F4-9E48-4561-986F-507FDC6E9F14}" destId="{29A613BE-CDC3-4093-B285-967121C785D5}" srcOrd="0" destOrd="0" presId="urn:microsoft.com/office/officeart/2018/2/layout/IconLabelList"/>
    <dgm:cxn modelId="{DE6C8F56-0BA0-44D5-85B1-8331F45C943C}" type="presParOf" srcId="{7DBEE98E-B9F0-4911-9BA1-299ADBC9F11B}" destId="{4CF96B5A-D627-4792-918D-8A6059BAB99B}" srcOrd="0" destOrd="0" presId="urn:microsoft.com/office/officeart/2018/2/layout/IconLabelList"/>
    <dgm:cxn modelId="{39F6AD91-F27C-407D-A285-E9F3305813D2}" type="presParOf" srcId="{4CF96B5A-D627-4792-918D-8A6059BAB99B}" destId="{847B7B52-F340-49F6-9AF9-054AD4995529}" srcOrd="0" destOrd="0" presId="urn:microsoft.com/office/officeart/2018/2/layout/IconLabelList"/>
    <dgm:cxn modelId="{24C27956-41A6-4684-B8D9-A8DBA2093F51}" type="presParOf" srcId="{4CF96B5A-D627-4792-918D-8A6059BAB99B}" destId="{C607087E-3533-4846-8048-CD11A413C25B}" srcOrd="1" destOrd="0" presId="urn:microsoft.com/office/officeart/2018/2/layout/IconLabelList"/>
    <dgm:cxn modelId="{45EA1224-8A14-4A6F-8916-C51C9750593E}" type="presParOf" srcId="{4CF96B5A-D627-4792-918D-8A6059BAB99B}" destId="{29A613BE-CDC3-4093-B285-967121C785D5}" srcOrd="2" destOrd="0" presId="urn:microsoft.com/office/officeart/2018/2/layout/IconLabelList"/>
    <dgm:cxn modelId="{943A70D8-73FA-43FD-9477-396FCC0A80D2}" type="presParOf" srcId="{7DBEE98E-B9F0-4911-9BA1-299ADBC9F11B}" destId="{9ADA1799-4F4C-40D7-87D8-A20E3B0F901A}" srcOrd="1" destOrd="0" presId="urn:microsoft.com/office/officeart/2018/2/layout/IconLabelList"/>
    <dgm:cxn modelId="{84494204-C7D4-4EEA-8AAB-CF3646D5B453}" type="presParOf" srcId="{7DBEE98E-B9F0-4911-9BA1-299ADBC9F11B}" destId="{71FC3DE9-28D7-4407-AB24-D5D9B10565B0}" srcOrd="2" destOrd="0" presId="urn:microsoft.com/office/officeart/2018/2/layout/IconLabelList"/>
    <dgm:cxn modelId="{2BD95EA2-7AB1-46C5-867F-F56C02BAB44D}" type="presParOf" srcId="{71FC3DE9-28D7-4407-AB24-D5D9B10565B0}" destId="{89C24B5B-F320-4CA2-A445-561E1719ED32}" srcOrd="0" destOrd="0" presId="urn:microsoft.com/office/officeart/2018/2/layout/IconLabelList"/>
    <dgm:cxn modelId="{1310E816-F29D-40FC-9596-8A623A887B9A}" type="presParOf" srcId="{71FC3DE9-28D7-4407-AB24-D5D9B10565B0}" destId="{4FAC3F23-ADC6-494A-9723-DAECEDA0D790}" srcOrd="1" destOrd="0" presId="urn:microsoft.com/office/officeart/2018/2/layout/IconLabelList"/>
    <dgm:cxn modelId="{48155EA9-6490-4333-87BE-B525989D2167}" type="presParOf" srcId="{71FC3DE9-28D7-4407-AB24-D5D9B10565B0}" destId="{59674F96-5778-4D6D-ADF1-F60F00528B0F}" srcOrd="2" destOrd="0" presId="urn:microsoft.com/office/officeart/2018/2/layout/IconLabelList"/>
    <dgm:cxn modelId="{0329D202-65FA-4979-A7AA-D7E47ED559A8}" type="presParOf" srcId="{7DBEE98E-B9F0-4911-9BA1-299ADBC9F11B}" destId="{9ADEB5B7-1AD0-47F4-A982-6460496DDB06}" srcOrd="3" destOrd="0" presId="urn:microsoft.com/office/officeart/2018/2/layout/IconLabelList"/>
    <dgm:cxn modelId="{8CAB568C-DCCA-43C2-AF0C-A49185C5A756}" type="presParOf" srcId="{7DBEE98E-B9F0-4911-9BA1-299ADBC9F11B}" destId="{33E89687-581B-496E-9933-5DD8AC731D92}" srcOrd="4" destOrd="0" presId="urn:microsoft.com/office/officeart/2018/2/layout/IconLabelList"/>
    <dgm:cxn modelId="{9003DDF5-CA85-43D3-9D0A-4BFA32E2A6D5}" type="presParOf" srcId="{33E89687-581B-496E-9933-5DD8AC731D92}" destId="{EA38B6AC-01E9-4FF5-82A3-E573A88BB56C}" srcOrd="0" destOrd="0" presId="urn:microsoft.com/office/officeart/2018/2/layout/IconLabelList"/>
    <dgm:cxn modelId="{562A72AE-4866-4ED7-B2B2-47847CD30CAC}" type="presParOf" srcId="{33E89687-581B-496E-9933-5DD8AC731D92}" destId="{ED6DA322-9CE5-4EFF-98A2-FB01F8C24D3E}" srcOrd="1" destOrd="0" presId="urn:microsoft.com/office/officeart/2018/2/layout/IconLabelList"/>
    <dgm:cxn modelId="{246ACFAE-1795-4F2E-AE6F-8882F7CFE682}" type="presParOf" srcId="{33E89687-581B-496E-9933-5DD8AC731D92}" destId="{BDBFCBC3-9950-48F2-A640-0D2540C42531}" srcOrd="2" destOrd="0" presId="urn:microsoft.com/office/officeart/2018/2/layout/IconLabelList"/>
    <dgm:cxn modelId="{F95ED42F-4959-4260-92CF-9FF856C8DEA5}" type="presParOf" srcId="{7DBEE98E-B9F0-4911-9BA1-299ADBC9F11B}" destId="{71A298D5-CC3D-4A50-B0C2-73D48E057173}" srcOrd="5" destOrd="0" presId="urn:microsoft.com/office/officeart/2018/2/layout/IconLabelList"/>
    <dgm:cxn modelId="{6FE63132-0942-4176-9B59-5D6A56065877}" type="presParOf" srcId="{7DBEE98E-B9F0-4911-9BA1-299ADBC9F11B}" destId="{A76E2E13-DB74-4A00-B0F5-9FCD5D4494A4}" srcOrd="6" destOrd="0" presId="urn:microsoft.com/office/officeart/2018/2/layout/IconLabelList"/>
    <dgm:cxn modelId="{7C1B10B8-6B85-4208-9A16-E9F34E98F5A6}" type="presParOf" srcId="{A76E2E13-DB74-4A00-B0F5-9FCD5D4494A4}" destId="{8266F582-22D7-4DFE-831B-E9EF1B55A18A}" srcOrd="0" destOrd="0" presId="urn:microsoft.com/office/officeart/2018/2/layout/IconLabelList"/>
    <dgm:cxn modelId="{45C539FD-E539-4C81-A40E-F2EBDB199ACC}" type="presParOf" srcId="{A76E2E13-DB74-4A00-B0F5-9FCD5D4494A4}" destId="{E645C724-4726-487A-86CD-7E741BD6555E}" srcOrd="1" destOrd="0" presId="urn:microsoft.com/office/officeart/2018/2/layout/IconLabelList"/>
    <dgm:cxn modelId="{1F324C96-D089-4145-ABBC-D3D0861556EC}" type="presParOf" srcId="{A76E2E13-DB74-4A00-B0F5-9FCD5D4494A4}" destId="{8DDC413B-7369-443D-B997-D6C219C2C9A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20CBA05-D2A2-4BD7-B6FE-78E76C8F01C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EBD49F4-9E48-4561-986F-507FDC6E9F14}">
      <dgm:prSet/>
      <dgm:spPr/>
      <dgm:t>
        <a:bodyPr/>
        <a:lstStyle/>
        <a:p>
          <a:pPr>
            <a:lnSpc>
              <a:spcPct val="100000"/>
            </a:lnSpc>
          </a:pPr>
          <a:r>
            <a:rPr lang="en-US"/>
            <a:t>Develop </a:t>
          </a:r>
          <a:r>
            <a:rPr lang="en-US" b="1"/>
            <a:t>Stock Analysis Service</a:t>
          </a:r>
          <a:r>
            <a:rPr lang="en-US"/>
            <a:t> (data ingestion + metrics)</a:t>
          </a:r>
        </a:p>
      </dgm:t>
    </dgm:pt>
    <dgm:pt modelId="{305F346F-0559-4D16-8324-CBC368A805D6}" type="parTrans" cxnId="{ACA57913-4547-4E2F-A948-B47B9C3383AA}">
      <dgm:prSet/>
      <dgm:spPr/>
      <dgm:t>
        <a:bodyPr/>
        <a:lstStyle/>
        <a:p>
          <a:endParaRPr lang="en-US"/>
        </a:p>
      </dgm:t>
    </dgm:pt>
    <dgm:pt modelId="{9A67568E-D649-48CE-9D83-FF7C73259530}" type="sibTrans" cxnId="{ACA57913-4547-4E2F-A948-B47B9C3383AA}">
      <dgm:prSet/>
      <dgm:spPr/>
      <dgm:t>
        <a:bodyPr/>
        <a:lstStyle/>
        <a:p>
          <a:pPr>
            <a:lnSpc>
              <a:spcPct val="100000"/>
            </a:lnSpc>
          </a:pPr>
          <a:endParaRPr lang="en-US"/>
        </a:p>
      </dgm:t>
    </dgm:pt>
    <dgm:pt modelId="{2389E863-8A47-4603-B487-B599F31295C3}">
      <dgm:prSet/>
      <dgm:spPr/>
      <dgm:t>
        <a:bodyPr/>
        <a:lstStyle/>
        <a:p>
          <a:pPr>
            <a:lnSpc>
              <a:spcPct val="100000"/>
            </a:lnSpc>
          </a:pPr>
          <a:r>
            <a:rPr lang="en-US"/>
            <a:t>Stand up </a:t>
          </a:r>
          <a:r>
            <a:rPr lang="en-US" b="1"/>
            <a:t>Portfolio Management Service</a:t>
          </a:r>
          <a:r>
            <a:rPr lang="en-US"/>
            <a:t> (</a:t>
          </a:r>
          <a:r>
            <a:rPr lang="en-US" b="0"/>
            <a:t>link </a:t>
          </a:r>
          <a:r>
            <a:rPr lang="en-US"/>
            <a:t>to </a:t>
          </a:r>
          <a:r>
            <a:rPr lang="en-US" b="0"/>
            <a:t>user data</a:t>
          </a:r>
          <a:r>
            <a:rPr lang="en-US"/>
            <a:t>)</a:t>
          </a:r>
        </a:p>
      </dgm:t>
    </dgm:pt>
    <dgm:pt modelId="{6B9C0CC5-04EC-429F-8C2A-35A21382526B}" type="parTrans" cxnId="{B9C959AB-CDFE-48FF-8728-AA5176721974}">
      <dgm:prSet/>
      <dgm:spPr/>
      <dgm:t>
        <a:bodyPr/>
        <a:lstStyle/>
        <a:p>
          <a:endParaRPr lang="en-US"/>
        </a:p>
      </dgm:t>
    </dgm:pt>
    <dgm:pt modelId="{055530DD-0AFD-4766-9E49-9D073C0628B5}" type="sibTrans" cxnId="{B9C959AB-CDFE-48FF-8728-AA5176721974}">
      <dgm:prSet/>
      <dgm:spPr/>
      <dgm:t>
        <a:bodyPr/>
        <a:lstStyle/>
        <a:p>
          <a:pPr>
            <a:lnSpc>
              <a:spcPct val="100000"/>
            </a:lnSpc>
          </a:pPr>
          <a:endParaRPr lang="en-US"/>
        </a:p>
      </dgm:t>
    </dgm:pt>
    <dgm:pt modelId="{8521E6A6-A714-4924-BD27-C93B137B1C69}">
      <dgm:prSet/>
      <dgm:spPr/>
      <dgm:t>
        <a:bodyPr/>
        <a:lstStyle/>
        <a:p>
          <a:pPr>
            <a:lnSpc>
              <a:spcPct val="100000"/>
            </a:lnSpc>
          </a:pPr>
          <a:r>
            <a:rPr lang="en-US"/>
            <a:t>Implement </a:t>
          </a:r>
          <a:r>
            <a:rPr lang="en-US" b="1"/>
            <a:t>data persistence redundancy</a:t>
          </a:r>
          <a:r>
            <a:rPr lang="en-US" b="0"/>
            <a:t> </a:t>
          </a:r>
          <a:r>
            <a:rPr lang="en-US"/>
            <a:t>and</a:t>
          </a:r>
          <a:r>
            <a:rPr lang="en-US" b="0"/>
            <a:t> validation logic</a:t>
          </a:r>
          <a:endParaRPr lang="en-US"/>
        </a:p>
      </dgm:t>
    </dgm:pt>
    <dgm:pt modelId="{32CED462-1075-4A83-89E4-A9B7172830BD}" type="parTrans" cxnId="{A9DEC97B-5FAC-4CAD-982E-C119BF3E8700}">
      <dgm:prSet/>
      <dgm:spPr/>
      <dgm:t>
        <a:bodyPr/>
        <a:lstStyle/>
        <a:p>
          <a:endParaRPr lang="en-US"/>
        </a:p>
      </dgm:t>
    </dgm:pt>
    <dgm:pt modelId="{D25F9F56-378D-4842-84A8-03A8A57E0B6C}" type="sibTrans" cxnId="{A9DEC97B-5FAC-4CAD-982E-C119BF3E8700}">
      <dgm:prSet/>
      <dgm:spPr/>
      <dgm:t>
        <a:bodyPr/>
        <a:lstStyle/>
        <a:p>
          <a:pPr>
            <a:lnSpc>
              <a:spcPct val="100000"/>
            </a:lnSpc>
          </a:pPr>
          <a:endParaRPr lang="en-US"/>
        </a:p>
      </dgm:t>
    </dgm:pt>
    <dgm:pt modelId="{C17C4896-58FF-496B-A3CB-714BE7ABA95D}">
      <dgm:prSet phldr="0"/>
      <dgm:spPr/>
      <dgm:t>
        <a:bodyPr/>
        <a:lstStyle/>
        <a:p>
          <a:pPr>
            <a:lnSpc>
              <a:spcPct val="100000"/>
            </a:lnSpc>
          </a:pPr>
          <a:r>
            <a:rPr lang="en-US" b="0"/>
            <a:t>Connect </a:t>
          </a:r>
          <a:r>
            <a:rPr lang="en-US" b="1"/>
            <a:t>market data APIs</a:t>
          </a:r>
          <a:endParaRPr lang="en-US"/>
        </a:p>
      </dgm:t>
    </dgm:pt>
    <dgm:pt modelId="{59CCEF50-0422-4FDA-8DDE-6976FEE3C79D}" type="parTrans" cxnId="{E09AFA75-C4DA-4415-9054-9EE97180402A}">
      <dgm:prSet/>
      <dgm:spPr/>
    </dgm:pt>
    <dgm:pt modelId="{9FC73215-5A57-436B-B153-FDDAF20A7A44}" type="sibTrans" cxnId="{E09AFA75-C4DA-4415-9054-9EE97180402A}">
      <dgm:prSet/>
      <dgm:spPr/>
    </dgm:pt>
    <dgm:pt modelId="{7DBEE98E-B9F0-4911-9BA1-299ADBC9F11B}" type="pres">
      <dgm:prSet presAssocID="{D20CBA05-D2A2-4BD7-B6FE-78E76C8F01CD}" presName="root" presStyleCnt="0">
        <dgm:presLayoutVars>
          <dgm:dir/>
          <dgm:resizeHandles val="exact"/>
        </dgm:presLayoutVars>
      </dgm:prSet>
      <dgm:spPr/>
    </dgm:pt>
    <dgm:pt modelId="{4CF96B5A-D627-4792-918D-8A6059BAB99B}" type="pres">
      <dgm:prSet presAssocID="{EEBD49F4-9E48-4561-986F-507FDC6E9F14}" presName="compNode" presStyleCnt="0"/>
      <dgm:spPr/>
    </dgm:pt>
    <dgm:pt modelId="{847B7B52-F340-49F6-9AF9-054AD4995529}" type="pres">
      <dgm:prSet presAssocID="{EEBD49F4-9E48-4561-986F-507FDC6E9F1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C607087E-3533-4846-8048-CD11A413C25B}" type="pres">
      <dgm:prSet presAssocID="{EEBD49F4-9E48-4561-986F-507FDC6E9F14}" presName="spaceRect" presStyleCnt="0"/>
      <dgm:spPr/>
    </dgm:pt>
    <dgm:pt modelId="{29A613BE-CDC3-4093-B285-967121C785D5}" type="pres">
      <dgm:prSet presAssocID="{EEBD49F4-9E48-4561-986F-507FDC6E9F14}" presName="textRect" presStyleLbl="revTx" presStyleIdx="0" presStyleCnt="4">
        <dgm:presLayoutVars>
          <dgm:chMax val="1"/>
          <dgm:chPref val="1"/>
        </dgm:presLayoutVars>
      </dgm:prSet>
      <dgm:spPr/>
    </dgm:pt>
    <dgm:pt modelId="{9ADA1799-4F4C-40D7-87D8-A20E3B0F901A}" type="pres">
      <dgm:prSet presAssocID="{9A67568E-D649-48CE-9D83-FF7C73259530}" presName="sibTrans" presStyleCnt="0"/>
      <dgm:spPr/>
    </dgm:pt>
    <dgm:pt modelId="{B3960439-632E-43A0-8188-75848CFD5694}" type="pres">
      <dgm:prSet presAssocID="{C17C4896-58FF-496B-A3CB-714BE7ABA95D}" presName="compNode" presStyleCnt="0"/>
      <dgm:spPr/>
    </dgm:pt>
    <dgm:pt modelId="{F7C2CC67-BED3-45A4-AAE7-53D43EA50F48}" type="pres">
      <dgm:prSet presAssocID="{C17C4896-58FF-496B-A3CB-714BE7ABA95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Lst>
          </a:blip>
          <a:stretch>
            <a:fillRect/>
          </a:stretch>
        </a:blipFill>
      </dgm:spPr>
      <dgm:extLst>
        <a:ext uri="{E40237B7-FDA0-4F09-8148-C483321AD2D9}">
          <dgm14:cNvPr xmlns:dgm14="http://schemas.microsoft.com/office/drawing/2010/diagram" id="0" name="" descr="Collect &amp; Connect: Focus on Latin America - ORCID"/>
        </a:ext>
      </dgm:extLst>
    </dgm:pt>
    <dgm:pt modelId="{8D84723E-4CFB-47AC-B93A-6F964F3D1076}" type="pres">
      <dgm:prSet presAssocID="{C17C4896-58FF-496B-A3CB-714BE7ABA95D}" presName="spaceRect" presStyleCnt="0"/>
      <dgm:spPr/>
    </dgm:pt>
    <dgm:pt modelId="{970A0BF5-165B-45B4-817A-CF60EE60AA1B}" type="pres">
      <dgm:prSet presAssocID="{C17C4896-58FF-496B-A3CB-714BE7ABA95D}" presName="textRect" presStyleLbl="revTx" presStyleIdx="1" presStyleCnt="4">
        <dgm:presLayoutVars>
          <dgm:chMax val="1"/>
          <dgm:chPref val="1"/>
        </dgm:presLayoutVars>
      </dgm:prSet>
      <dgm:spPr/>
    </dgm:pt>
    <dgm:pt modelId="{5A1C4750-0765-4FCD-A125-D6BC7DC6C8DC}" type="pres">
      <dgm:prSet presAssocID="{9FC73215-5A57-436B-B153-FDDAF20A7A44}" presName="sibTrans" presStyleCnt="0"/>
      <dgm:spPr/>
    </dgm:pt>
    <dgm:pt modelId="{71FC3DE9-28D7-4407-AB24-D5D9B10565B0}" type="pres">
      <dgm:prSet presAssocID="{2389E863-8A47-4603-B487-B599F31295C3}" presName="compNode" presStyleCnt="0"/>
      <dgm:spPr/>
    </dgm:pt>
    <dgm:pt modelId="{89C24B5B-F320-4CA2-A445-561E1719ED32}" type="pres">
      <dgm:prSet presAssocID="{2389E863-8A47-4603-B487-B599F31295C3}" presName="iconRect" presStyleLbl="node1" presStyleIdx="2"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atabase"/>
        </a:ext>
      </dgm:extLst>
    </dgm:pt>
    <dgm:pt modelId="{4FAC3F23-ADC6-494A-9723-DAECEDA0D790}" type="pres">
      <dgm:prSet presAssocID="{2389E863-8A47-4603-B487-B599F31295C3}" presName="spaceRect" presStyleCnt="0"/>
      <dgm:spPr/>
    </dgm:pt>
    <dgm:pt modelId="{59674F96-5778-4D6D-ADF1-F60F00528B0F}" type="pres">
      <dgm:prSet presAssocID="{2389E863-8A47-4603-B487-B599F31295C3}" presName="textRect" presStyleLbl="revTx" presStyleIdx="2" presStyleCnt="4">
        <dgm:presLayoutVars>
          <dgm:chMax val="1"/>
          <dgm:chPref val="1"/>
        </dgm:presLayoutVars>
      </dgm:prSet>
      <dgm:spPr/>
    </dgm:pt>
    <dgm:pt modelId="{9ADEB5B7-1AD0-47F4-A982-6460496DDB06}" type="pres">
      <dgm:prSet presAssocID="{055530DD-0AFD-4766-9E49-9D073C0628B5}" presName="sibTrans" presStyleCnt="0"/>
      <dgm:spPr/>
    </dgm:pt>
    <dgm:pt modelId="{33E89687-581B-496E-9933-5DD8AC731D92}" type="pres">
      <dgm:prSet presAssocID="{8521E6A6-A714-4924-BD27-C93B137B1C69}" presName="compNode" presStyleCnt="0"/>
      <dgm:spPr/>
    </dgm:pt>
    <dgm:pt modelId="{EA38B6AC-01E9-4FF5-82A3-E573A88BB56C}" type="pres">
      <dgm:prSet presAssocID="{8521E6A6-A714-4924-BD27-C93B137B1C69}" presName="iconRect" presStyleLbl="node1" presStyleIdx="3"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Server"/>
        </a:ext>
      </dgm:extLst>
    </dgm:pt>
    <dgm:pt modelId="{ED6DA322-9CE5-4EFF-98A2-FB01F8C24D3E}" type="pres">
      <dgm:prSet presAssocID="{8521E6A6-A714-4924-BD27-C93B137B1C69}" presName="spaceRect" presStyleCnt="0"/>
      <dgm:spPr/>
    </dgm:pt>
    <dgm:pt modelId="{BDBFCBC3-9950-48F2-A640-0D2540C42531}" type="pres">
      <dgm:prSet presAssocID="{8521E6A6-A714-4924-BD27-C93B137B1C69}" presName="textRect" presStyleLbl="revTx" presStyleIdx="3" presStyleCnt="4">
        <dgm:presLayoutVars>
          <dgm:chMax val="1"/>
          <dgm:chPref val="1"/>
        </dgm:presLayoutVars>
      </dgm:prSet>
      <dgm:spPr/>
    </dgm:pt>
  </dgm:ptLst>
  <dgm:cxnLst>
    <dgm:cxn modelId="{ACA57913-4547-4E2F-A948-B47B9C3383AA}" srcId="{D20CBA05-D2A2-4BD7-B6FE-78E76C8F01CD}" destId="{EEBD49F4-9E48-4561-986F-507FDC6E9F14}" srcOrd="0" destOrd="0" parTransId="{305F346F-0559-4D16-8324-CBC368A805D6}" sibTransId="{9A67568E-D649-48CE-9D83-FF7C73259530}"/>
    <dgm:cxn modelId="{F470A148-E810-44F0-9CB4-0B2CBB6662DA}" type="presOf" srcId="{D20CBA05-D2A2-4BD7-B6FE-78E76C8F01CD}" destId="{7DBEE98E-B9F0-4911-9BA1-299ADBC9F11B}" srcOrd="0" destOrd="0" presId="urn:microsoft.com/office/officeart/2018/2/layout/IconLabelList"/>
    <dgm:cxn modelId="{6814066F-3A34-4A44-8854-89B0A4EE5BF7}" type="presOf" srcId="{8521E6A6-A714-4924-BD27-C93B137B1C69}" destId="{BDBFCBC3-9950-48F2-A640-0D2540C42531}" srcOrd="0" destOrd="0" presId="urn:microsoft.com/office/officeart/2018/2/layout/IconLabelList"/>
    <dgm:cxn modelId="{E09AFA75-C4DA-4415-9054-9EE97180402A}" srcId="{D20CBA05-D2A2-4BD7-B6FE-78E76C8F01CD}" destId="{C17C4896-58FF-496B-A3CB-714BE7ABA95D}" srcOrd="1" destOrd="0" parTransId="{59CCEF50-0422-4FDA-8DDE-6976FEE3C79D}" sibTransId="{9FC73215-5A57-436B-B153-FDDAF20A7A44}"/>
    <dgm:cxn modelId="{A9DEC97B-5FAC-4CAD-982E-C119BF3E8700}" srcId="{D20CBA05-D2A2-4BD7-B6FE-78E76C8F01CD}" destId="{8521E6A6-A714-4924-BD27-C93B137B1C69}" srcOrd="3" destOrd="0" parTransId="{32CED462-1075-4A83-89E4-A9B7172830BD}" sibTransId="{D25F9F56-378D-4842-84A8-03A8A57E0B6C}"/>
    <dgm:cxn modelId="{B9C959AB-CDFE-48FF-8728-AA5176721974}" srcId="{D20CBA05-D2A2-4BD7-B6FE-78E76C8F01CD}" destId="{2389E863-8A47-4603-B487-B599F31295C3}" srcOrd="2" destOrd="0" parTransId="{6B9C0CC5-04EC-429F-8C2A-35A21382526B}" sibTransId="{055530DD-0AFD-4766-9E49-9D073C0628B5}"/>
    <dgm:cxn modelId="{B7B087AD-7D6B-4C7B-AA45-8ABFB71C2F59}" type="presOf" srcId="{C17C4896-58FF-496B-A3CB-714BE7ABA95D}" destId="{970A0BF5-165B-45B4-817A-CF60EE60AA1B}" srcOrd="0" destOrd="0" presId="urn:microsoft.com/office/officeart/2018/2/layout/IconLabelList"/>
    <dgm:cxn modelId="{DB703FCB-CD2F-4FF4-96C3-E2BC9F3F39AF}" type="presOf" srcId="{2389E863-8A47-4603-B487-B599F31295C3}" destId="{59674F96-5778-4D6D-ADF1-F60F00528B0F}" srcOrd="0" destOrd="0" presId="urn:microsoft.com/office/officeart/2018/2/layout/IconLabelList"/>
    <dgm:cxn modelId="{9DCF76FB-02B3-4CF3-8F6D-FC73A7D20F86}" type="presOf" srcId="{EEBD49F4-9E48-4561-986F-507FDC6E9F14}" destId="{29A613BE-CDC3-4093-B285-967121C785D5}" srcOrd="0" destOrd="0" presId="urn:microsoft.com/office/officeart/2018/2/layout/IconLabelList"/>
    <dgm:cxn modelId="{67B6C053-A762-4D6A-845A-6C623A313BB6}" type="presParOf" srcId="{7DBEE98E-B9F0-4911-9BA1-299ADBC9F11B}" destId="{4CF96B5A-D627-4792-918D-8A6059BAB99B}" srcOrd="0" destOrd="0" presId="urn:microsoft.com/office/officeart/2018/2/layout/IconLabelList"/>
    <dgm:cxn modelId="{97696F29-EC14-4109-9691-043A7455B1C4}" type="presParOf" srcId="{4CF96B5A-D627-4792-918D-8A6059BAB99B}" destId="{847B7B52-F340-49F6-9AF9-054AD4995529}" srcOrd="0" destOrd="0" presId="urn:microsoft.com/office/officeart/2018/2/layout/IconLabelList"/>
    <dgm:cxn modelId="{83A0C9B7-D872-4FB3-9790-EC42DD94AB4F}" type="presParOf" srcId="{4CF96B5A-D627-4792-918D-8A6059BAB99B}" destId="{C607087E-3533-4846-8048-CD11A413C25B}" srcOrd="1" destOrd="0" presId="urn:microsoft.com/office/officeart/2018/2/layout/IconLabelList"/>
    <dgm:cxn modelId="{3901E373-4C35-4996-AE41-58B1B8B864ED}" type="presParOf" srcId="{4CF96B5A-D627-4792-918D-8A6059BAB99B}" destId="{29A613BE-CDC3-4093-B285-967121C785D5}" srcOrd="2" destOrd="0" presId="urn:microsoft.com/office/officeart/2018/2/layout/IconLabelList"/>
    <dgm:cxn modelId="{FB2C5C1D-F45F-488E-96FE-A953139A8D5B}" type="presParOf" srcId="{7DBEE98E-B9F0-4911-9BA1-299ADBC9F11B}" destId="{9ADA1799-4F4C-40D7-87D8-A20E3B0F901A}" srcOrd="1" destOrd="0" presId="urn:microsoft.com/office/officeart/2018/2/layout/IconLabelList"/>
    <dgm:cxn modelId="{7A35784A-FB1D-412E-9C9B-5D8702C50F8A}" type="presParOf" srcId="{7DBEE98E-B9F0-4911-9BA1-299ADBC9F11B}" destId="{B3960439-632E-43A0-8188-75848CFD5694}" srcOrd="2" destOrd="0" presId="urn:microsoft.com/office/officeart/2018/2/layout/IconLabelList"/>
    <dgm:cxn modelId="{9E272F1B-E667-4EE4-97CC-4980D4D43A78}" type="presParOf" srcId="{B3960439-632E-43A0-8188-75848CFD5694}" destId="{F7C2CC67-BED3-45A4-AAE7-53D43EA50F48}" srcOrd="0" destOrd="0" presId="urn:microsoft.com/office/officeart/2018/2/layout/IconLabelList"/>
    <dgm:cxn modelId="{0E65E433-1CFC-4C73-964D-DDC7732DCC93}" type="presParOf" srcId="{B3960439-632E-43A0-8188-75848CFD5694}" destId="{8D84723E-4CFB-47AC-B93A-6F964F3D1076}" srcOrd="1" destOrd="0" presId="urn:microsoft.com/office/officeart/2018/2/layout/IconLabelList"/>
    <dgm:cxn modelId="{96655D45-E736-4E9D-B119-95BB0AE4F848}" type="presParOf" srcId="{B3960439-632E-43A0-8188-75848CFD5694}" destId="{970A0BF5-165B-45B4-817A-CF60EE60AA1B}" srcOrd="2" destOrd="0" presId="urn:microsoft.com/office/officeart/2018/2/layout/IconLabelList"/>
    <dgm:cxn modelId="{2117355E-43A9-4E0F-AA15-A4FB84B6543E}" type="presParOf" srcId="{7DBEE98E-B9F0-4911-9BA1-299ADBC9F11B}" destId="{5A1C4750-0765-4FCD-A125-D6BC7DC6C8DC}" srcOrd="3" destOrd="0" presId="urn:microsoft.com/office/officeart/2018/2/layout/IconLabelList"/>
    <dgm:cxn modelId="{649AD752-CFE9-4C7C-9FC9-EFFDD1678712}" type="presParOf" srcId="{7DBEE98E-B9F0-4911-9BA1-299ADBC9F11B}" destId="{71FC3DE9-28D7-4407-AB24-D5D9B10565B0}" srcOrd="4" destOrd="0" presId="urn:microsoft.com/office/officeart/2018/2/layout/IconLabelList"/>
    <dgm:cxn modelId="{1EE1E795-6DAB-4E13-A501-7909A1560696}" type="presParOf" srcId="{71FC3DE9-28D7-4407-AB24-D5D9B10565B0}" destId="{89C24B5B-F320-4CA2-A445-561E1719ED32}" srcOrd="0" destOrd="0" presId="urn:microsoft.com/office/officeart/2018/2/layout/IconLabelList"/>
    <dgm:cxn modelId="{41E08902-E4C4-40F6-B174-A4D647B9EB66}" type="presParOf" srcId="{71FC3DE9-28D7-4407-AB24-D5D9B10565B0}" destId="{4FAC3F23-ADC6-494A-9723-DAECEDA0D790}" srcOrd="1" destOrd="0" presId="urn:microsoft.com/office/officeart/2018/2/layout/IconLabelList"/>
    <dgm:cxn modelId="{8C647BEC-4752-4395-AB3A-2DC2B7A95705}" type="presParOf" srcId="{71FC3DE9-28D7-4407-AB24-D5D9B10565B0}" destId="{59674F96-5778-4D6D-ADF1-F60F00528B0F}" srcOrd="2" destOrd="0" presId="urn:microsoft.com/office/officeart/2018/2/layout/IconLabelList"/>
    <dgm:cxn modelId="{3E5ABBA6-2E28-48BE-B8D1-F60A4E3E0AA7}" type="presParOf" srcId="{7DBEE98E-B9F0-4911-9BA1-299ADBC9F11B}" destId="{9ADEB5B7-1AD0-47F4-A982-6460496DDB06}" srcOrd="5" destOrd="0" presId="urn:microsoft.com/office/officeart/2018/2/layout/IconLabelList"/>
    <dgm:cxn modelId="{2AA51EF1-8974-4DF9-8726-6A2A6DECC0A7}" type="presParOf" srcId="{7DBEE98E-B9F0-4911-9BA1-299ADBC9F11B}" destId="{33E89687-581B-496E-9933-5DD8AC731D92}" srcOrd="6" destOrd="0" presId="urn:microsoft.com/office/officeart/2018/2/layout/IconLabelList"/>
    <dgm:cxn modelId="{2C7CCA8C-E78D-47FD-AAEA-E068AEB827A0}" type="presParOf" srcId="{33E89687-581B-496E-9933-5DD8AC731D92}" destId="{EA38B6AC-01E9-4FF5-82A3-E573A88BB56C}" srcOrd="0" destOrd="0" presId="urn:microsoft.com/office/officeart/2018/2/layout/IconLabelList"/>
    <dgm:cxn modelId="{0FF65767-C062-4849-9832-BF7E7CE4632D}" type="presParOf" srcId="{33E89687-581B-496E-9933-5DD8AC731D92}" destId="{ED6DA322-9CE5-4EFF-98A2-FB01F8C24D3E}" srcOrd="1" destOrd="0" presId="urn:microsoft.com/office/officeart/2018/2/layout/IconLabelList"/>
    <dgm:cxn modelId="{456A103F-22A7-4DB6-99C4-D56C0669762E}" type="presParOf" srcId="{33E89687-581B-496E-9933-5DD8AC731D92}" destId="{BDBFCBC3-9950-48F2-A640-0D2540C4253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20CBA05-D2A2-4BD7-B6FE-78E76C8F01C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EBD49F4-9E48-4561-986F-507FDC6E9F14}">
      <dgm:prSet/>
      <dgm:spPr/>
      <dgm:t>
        <a:bodyPr/>
        <a:lstStyle/>
        <a:p>
          <a:pPr>
            <a:lnSpc>
              <a:spcPct val="100000"/>
            </a:lnSpc>
          </a:pPr>
          <a:r>
            <a:rPr lang="en-US"/>
            <a:t>Build </a:t>
          </a:r>
          <a:r>
            <a:rPr lang="en-US" b="1"/>
            <a:t>Market News &amp; Sentiment Service</a:t>
          </a:r>
          <a:r>
            <a:rPr lang="en-US"/>
            <a:t> (API</a:t>
          </a:r>
          <a:r>
            <a:rPr lang="en-US">
              <a:latin typeface="Aptos Display" panose="02110004020202020204"/>
            </a:rPr>
            <a:t>)</a:t>
          </a:r>
          <a:endParaRPr lang="en-US"/>
        </a:p>
      </dgm:t>
    </dgm:pt>
    <dgm:pt modelId="{305F346F-0559-4D16-8324-CBC368A805D6}" type="parTrans" cxnId="{ACA57913-4547-4E2F-A948-B47B9C3383AA}">
      <dgm:prSet/>
      <dgm:spPr/>
      <dgm:t>
        <a:bodyPr/>
        <a:lstStyle/>
        <a:p>
          <a:endParaRPr lang="en-US"/>
        </a:p>
      </dgm:t>
    </dgm:pt>
    <dgm:pt modelId="{9A67568E-D649-48CE-9D83-FF7C73259530}" type="sibTrans" cxnId="{ACA57913-4547-4E2F-A948-B47B9C3383AA}">
      <dgm:prSet/>
      <dgm:spPr/>
      <dgm:t>
        <a:bodyPr/>
        <a:lstStyle/>
        <a:p>
          <a:pPr>
            <a:lnSpc>
              <a:spcPct val="100000"/>
            </a:lnSpc>
          </a:pPr>
          <a:endParaRPr lang="en-US"/>
        </a:p>
      </dgm:t>
    </dgm:pt>
    <dgm:pt modelId="{2389E863-8A47-4603-B487-B599F31295C3}">
      <dgm:prSet/>
      <dgm:spPr/>
      <dgm:t>
        <a:bodyPr/>
        <a:lstStyle/>
        <a:p>
          <a:pPr>
            <a:lnSpc>
              <a:spcPct val="100000"/>
            </a:lnSpc>
          </a:pPr>
          <a:r>
            <a:rPr lang="en-US" b="0"/>
            <a:t>Develop </a:t>
          </a:r>
          <a:r>
            <a:rPr lang="en-US" b="1"/>
            <a:t>Alert &amp; Notification Service</a:t>
          </a:r>
          <a:r>
            <a:rPr lang="en-US"/>
            <a:t> (</a:t>
          </a:r>
          <a:r>
            <a:rPr lang="en-US" b="0"/>
            <a:t>event-driven triggers</a:t>
          </a:r>
          <a:r>
            <a:rPr lang="en-US"/>
            <a:t>)</a:t>
          </a:r>
        </a:p>
      </dgm:t>
    </dgm:pt>
    <dgm:pt modelId="{6B9C0CC5-04EC-429F-8C2A-35A21382526B}" type="parTrans" cxnId="{B9C959AB-CDFE-48FF-8728-AA5176721974}">
      <dgm:prSet/>
      <dgm:spPr/>
      <dgm:t>
        <a:bodyPr/>
        <a:lstStyle/>
        <a:p>
          <a:endParaRPr lang="en-US"/>
        </a:p>
      </dgm:t>
    </dgm:pt>
    <dgm:pt modelId="{055530DD-0AFD-4766-9E49-9D073C0628B5}" type="sibTrans" cxnId="{B9C959AB-CDFE-48FF-8728-AA5176721974}">
      <dgm:prSet/>
      <dgm:spPr/>
      <dgm:t>
        <a:bodyPr/>
        <a:lstStyle/>
        <a:p>
          <a:pPr>
            <a:lnSpc>
              <a:spcPct val="100000"/>
            </a:lnSpc>
          </a:pPr>
          <a:endParaRPr lang="en-US"/>
        </a:p>
      </dgm:t>
    </dgm:pt>
    <dgm:pt modelId="{8521E6A6-A714-4924-BD27-C93B137B1C69}">
      <dgm:prSet/>
      <dgm:spPr/>
      <dgm:t>
        <a:bodyPr/>
        <a:lstStyle/>
        <a:p>
          <a:pPr>
            <a:lnSpc>
              <a:spcPct val="100000"/>
            </a:lnSpc>
          </a:pPr>
          <a:r>
            <a:rPr lang="en-US" b="0"/>
            <a:t>Enable </a:t>
          </a:r>
          <a:r>
            <a:rPr lang="en-US" b="1"/>
            <a:t>low-latency data delivery</a:t>
          </a:r>
          <a:r>
            <a:rPr lang="en-US" b="0"/>
            <a:t> for dashboards</a:t>
          </a:r>
          <a:endParaRPr lang="en-US"/>
        </a:p>
      </dgm:t>
    </dgm:pt>
    <dgm:pt modelId="{32CED462-1075-4A83-89E4-A9B7172830BD}" type="parTrans" cxnId="{A9DEC97B-5FAC-4CAD-982E-C119BF3E8700}">
      <dgm:prSet/>
      <dgm:spPr/>
      <dgm:t>
        <a:bodyPr/>
        <a:lstStyle/>
        <a:p>
          <a:endParaRPr lang="en-US"/>
        </a:p>
      </dgm:t>
    </dgm:pt>
    <dgm:pt modelId="{D25F9F56-378D-4842-84A8-03A8A57E0B6C}" type="sibTrans" cxnId="{A9DEC97B-5FAC-4CAD-982E-C119BF3E8700}">
      <dgm:prSet/>
      <dgm:spPr/>
      <dgm:t>
        <a:bodyPr/>
        <a:lstStyle/>
        <a:p>
          <a:pPr>
            <a:lnSpc>
              <a:spcPct val="100000"/>
            </a:lnSpc>
          </a:pPr>
          <a:endParaRPr lang="en-US"/>
        </a:p>
      </dgm:t>
    </dgm:pt>
    <dgm:pt modelId="{240D3E9D-8BAF-4ED7-80DE-FD7D6DC89801}">
      <dgm:prSet phldr="0"/>
      <dgm:spPr/>
      <dgm:t>
        <a:bodyPr/>
        <a:lstStyle/>
        <a:p>
          <a:pPr>
            <a:lnSpc>
              <a:spcPct val="100000"/>
            </a:lnSpc>
          </a:pPr>
          <a:r>
            <a:rPr lang="en-US"/>
            <a:t>Integrate </a:t>
          </a:r>
          <a:r>
            <a:rPr lang="en-US" b="1"/>
            <a:t>fault tolerance, retry logic, and caching</a:t>
          </a:r>
          <a:endParaRPr lang="en-US"/>
        </a:p>
      </dgm:t>
    </dgm:pt>
    <dgm:pt modelId="{660916AB-9EB1-402D-87BE-100C0A313B16}" type="parTrans" cxnId="{2F6975D3-07A0-4AF0-8389-A148F656F34B}">
      <dgm:prSet/>
      <dgm:spPr/>
    </dgm:pt>
    <dgm:pt modelId="{E6D613BF-118B-4109-82F7-0B97D4C84528}" type="sibTrans" cxnId="{2F6975D3-07A0-4AF0-8389-A148F656F34B}">
      <dgm:prSet/>
      <dgm:spPr/>
    </dgm:pt>
    <dgm:pt modelId="{7DBEE98E-B9F0-4911-9BA1-299ADBC9F11B}" type="pres">
      <dgm:prSet presAssocID="{D20CBA05-D2A2-4BD7-B6FE-78E76C8F01CD}" presName="root" presStyleCnt="0">
        <dgm:presLayoutVars>
          <dgm:dir/>
          <dgm:resizeHandles val="exact"/>
        </dgm:presLayoutVars>
      </dgm:prSet>
      <dgm:spPr/>
    </dgm:pt>
    <dgm:pt modelId="{4CF96B5A-D627-4792-918D-8A6059BAB99B}" type="pres">
      <dgm:prSet presAssocID="{EEBD49F4-9E48-4561-986F-507FDC6E9F14}" presName="compNode" presStyleCnt="0"/>
      <dgm:spPr/>
    </dgm:pt>
    <dgm:pt modelId="{847B7B52-F340-49F6-9AF9-054AD4995529}" type="pres">
      <dgm:prSet presAssocID="{EEBD49F4-9E48-4561-986F-507FDC6E9F1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C607087E-3533-4846-8048-CD11A413C25B}" type="pres">
      <dgm:prSet presAssocID="{EEBD49F4-9E48-4561-986F-507FDC6E9F14}" presName="spaceRect" presStyleCnt="0"/>
      <dgm:spPr/>
    </dgm:pt>
    <dgm:pt modelId="{29A613BE-CDC3-4093-B285-967121C785D5}" type="pres">
      <dgm:prSet presAssocID="{EEBD49F4-9E48-4561-986F-507FDC6E9F14}" presName="textRect" presStyleLbl="revTx" presStyleIdx="0" presStyleCnt="4">
        <dgm:presLayoutVars>
          <dgm:chMax val="1"/>
          <dgm:chPref val="1"/>
        </dgm:presLayoutVars>
      </dgm:prSet>
      <dgm:spPr/>
    </dgm:pt>
    <dgm:pt modelId="{9ADA1799-4F4C-40D7-87D8-A20E3B0F901A}" type="pres">
      <dgm:prSet presAssocID="{9A67568E-D649-48CE-9D83-FF7C73259530}" presName="sibTrans" presStyleCnt="0"/>
      <dgm:spPr/>
    </dgm:pt>
    <dgm:pt modelId="{71FC3DE9-28D7-4407-AB24-D5D9B10565B0}" type="pres">
      <dgm:prSet presAssocID="{2389E863-8A47-4603-B487-B599F31295C3}" presName="compNode" presStyleCnt="0"/>
      <dgm:spPr/>
    </dgm:pt>
    <dgm:pt modelId="{89C24B5B-F320-4CA2-A445-561E1719ED32}" type="pres">
      <dgm:prSet presAssocID="{2389E863-8A47-4603-B487-B599F31295C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4FAC3F23-ADC6-494A-9723-DAECEDA0D790}" type="pres">
      <dgm:prSet presAssocID="{2389E863-8A47-4603-B487-B599F31295C3}" presName="spaceRect" presStyleCnt="0"/>
      <dgm:spPr/>
    </dgm:pt>
    <dgm:pt modelId="{59674F96-5778-4D6D-ADF1-F60F00528B0F}" type="pres">
      <dgm:prSet presAssocID="{2389E863-8A47-4603-B487-B599F31295C3}" presName="textRect" presStyleLbl="revTx" presStyleIdx="1" presStyleCnt="4">
        <dgm:presLayoutVars>
          <dgm:chMax val="1"/>
          <dgm:chPref val="1"/>
        </dgm:presLayoutVars>
      </dgm:prSet>
      <dgm:spPr/>
    </dgm:pt>
    <dgm:pt modelId="{9ADEB5B7-1AD0-47F4-A982-6460496DDB06}" type="pres">
      <dgm:prSet presAssocID="{055530DD-0AFD-4766-9E49-9D073C0628B5}" presName="sibTrans" presStyleCnt="0"/>
      <dgm:spPr/>
    </dgm:pt>
    <dgm:pt modelId="{E5E5E9E3-A779-4A13-84B5-F833BA646BD0}" type="pres">
      <dgm:prSet presAssocID="{240D3E9D-8BAF-4ED7-80DE-FD7D6DC89801}" presName="compNode" presStyleCnt="0"/>
      <dgm:spPr/>
    </dgm:pt>
    <dgm:pt modelId="{3989B660-9110-4995-81FC-539C381D5F64}" type="pres">
      <dgm:prSet presAssocID="{240D3E9D-8BAF-4ED7-80DE-FD7D6DC8980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Lst>
          </a:blip>
          <a:stretch>
            <a:fillRect/>
          </a:stretch>
        </a:blipFill>
      </dgm:spPr>
      <dgm:extLst>
        <a:ext uri="{E40237B7-FDA0-4F09-8148-C483321AD2D9}">
          <dgm14:cNvPr xmlns:dgm14="http://schemas.microsoft.com/office/drawing/2010/diagram" id="0" name="" descr="Seguridad Cibernética De · Imagen gratis en Pixabay"/>
        </a:ext>
      </dgm:extLst>
    </dgm:pt>
    <dgm:pt modelId="{DBE093CF-23EC-42CC-B3F8-5047AA5185B6}" type="pres">
      <dgm:prSet presAssocID="{240D3E9D-8BAF-4ED7-80DE-FD7D6DC89801}" presName="spaceRect" presStyleCnt="0"/>
      <dgm:spPr/>
    </dgm:pt>
    <dgm:pt modelId="{7207A4AC-3F3E-462C-AF4C-83C29C31BB4E}" type="pres">
      <dgm:prSet presAssocID="{240D3E9D-8BAF-4ED7-80DE-FD7D6DC89801}" presName="textRect" presStyleLbl="revTx" presStyleIdx="2" presStyleCnt="4">
        <dgm:presLayoutVars>
          <dgm:chMax val="1"/>
          <dgm:chPref val="1"/>
        </dgm:presLayoutVars>
      </dgm:prSet>
      <dgm:spPr/>
    </dgm:pt>
    <dgm:pt modelId="{98782E83-6B6B-40C5-B00E-BCE300A58080}" type="pres">
      <dgm:prSet presAssocID="{E6D613BF-118B-4109-82F7-0B97D4C84528}" presName="sibTrans" presStyleCnt="0"/>
      <dgm:spPr/>
    </dgm:pt>
    <dgm:pt modelId="{33E89687-581B-496E-9933-5DD8AC731D92}" type="pres">
      <dgm:prSet presAssocID="{8521E6A6-A714-4924-BD27-C93B137B1C69}" presName="compNode" presStyleCnt="0"/>
      <dgm:spPr/>
    </dgm:pt>
    <dgm:pt modelId="{EA38B6AC-01E9-4FF5-82A3-E573A88BB56C}" type="pres">
      <dgm:prSet presAssocID="{8521E6A6-A714-4924-BD27-C93B137B1C69}" presName="iconRect" presStyleLbl="node1" presStyleIdx="3"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Server"/>
        </a:ext>
      </dgm:extLst>
    </dgm:pt>
    <dgm:pt modelId="{ED6DA322-9CE5-4EFF-98A2-FB01F8C24D3E}" type="pres">
      <dgm:prSet presAssocID="{8521E6A6-A714-4924-BD27-C93B137B1C69}" presName="spaceRect" presStyleCnt="0"/>
      <dgm:spPr/>
    </dgm:pt>
    <dgm:pt modelId="{BDBFCBC3-9950-48F2-A640-0D2540C42531}" type="pres">
      <dgm:prSet presAssocID="{8521E6A6-A714-4924-BD27-C93B137B1C69}" presName="textRect" presStyleLbl="revTx" presStyleIdx="3" presStyleCnt="4">
        <dgm:presLayoutVars>
          <dgm:chMax val="1"/>
          <dgm:chPref val="1"/>
        </dgm:presLayoutVars>
      </dgm:prSet>
      <dgm:spPr/>
    </dgm:pt>
  </dgm:ptLst>
  <dgm:cxnLst>
    <dgm:cxn modelId="{7E0DA600-C611-43FD-AA31-9C86B1820E77}" type="presOf" srcId="{2389E863-8A47-4603-B487-B599F31295C3}" destId="{59674F96-5778-4D6D-ADF1-F60F00528B0F}" srcOrd="0" destOrd="0" presId="urn:microsoft.com/office/officeart/2018/2/layout/IconLabelList"/>
    <dgm:cxn modelId="{ACA57913-4547-4E2F-A948-B47B9C3383AA}" srcId="{D20CBA05-D2A2-4BD7-B6FE-78E76C8F01CD}" destId="{EEBD49F4-9E48-4561-986F-507FDC6E9F14}" srcOrd="0" destOrd="0" parTransId="{305F346F-0559-4D16-8324-CBC368A805D6}" sibTransId="{9A67568E-D649-48CE-9D83-FF7C73259530}"/>
    <dgm:cxn modelId="{A59E371D-227A-4FD5-A318-639116B87E60}" type="presOf" srcId="{240D3E9D-8BAF-4ED7-80DE-FD7D6DC89801}" destId="{7207A4AC-3F3E-462C-AF4C-83C29C31BB4E}" srcOrd="0" destOrd="0" presId="urn:microsoft.com/office/officeart/2018/2/layout/IconLabelList"/>
    <dgm:cxn modelId="{F470A148-E810-44F0-9CB4-0B2CBB6662DA}" type="presOf" srcId="{D20CBA05-D2A2-4BD7-B6FE-78E76C8F01CD}" destId="{7DBEE98E-B9F0-4911-9BA1-299ADBC9F11B}" srcOrd="0" destOrd="0" presId="urn:microsoft.com/office/officeart/2018/2/layout/IconLabelList"/>
    <dgm:cxn modelId="{A9DEC97B-5FAC-4CAD-982E-C119BF3E8700}" srcId="{D20CBA05-D2A2-4BD7-B6FE-78E76C8F01CD}" destId="{8521E6A6-A714-4924-BD27-C93B137B1C69}" srcOrd="3" destOrd="0" parTransId="{32CED462-1075-4A83-89E4-A9B7172830BD}" sibTransId="{D25F9F56-378D-4842-84A8-03A8A57E0B6C}"/>
    <dgm:cxn modelId="{B9C959AB-CDFE-48FF-8728-AA5176721974}" srcId="{D20CBA05-D2A2-4BD7-B6FE-78E76C8F01CD}" destId="{2389E863-8A47-4603-B487-B599F31295C3}" srcOrd="1" destOrd="0" parTransId="{6B9C0CC5-04EC-429F-8C2A-35A21382526B}" sibTransId="{055530DD-0AFD-4766-9E49-9D073C0628B5}"/>
    <dgm:cxn modelId="{2F6975D3-07A0-4AF0-8389-A148F656F34B}" srcId="{D20CBA05-D2A2-4BD7-B6FE-78E76C8F01CD}" destId="{240D3E9D-8BAF-4ED7-80DE-FD7D6DC89801}" srcOrd="2" destOrd="0" parTransId="{660916AB-9EB1-402D-87BE-100C0A313B16}" sibTransId="{E6D613BF-118B-4109-82F7-0B97D4C84528}"/>
    <dgm:cxn modelId="{E8CD95DC-1A6F-494C-9CFF-13C1CA5841C8}" type="presOf" srcId="{EEBD49F4-9E48-4561-986F-507FDC6E9F14}" destId="{29A613BE-CDC3-4093-B285-967121C785D5}" srcOrd="0" destOrd="0" presId="urn:microsoft.com/office/officeart/2018/2/layout/IconLabelList"/>
    <dgm:cxn modelId="{F76AE4F1-AF75-40F1-B425-DEAB7D8B273E}" type="presOf" srcId="{8521E6A6-A714-4924-BD27-C93B137B1C69}" destId="{BDBFCBC3-9950-48F2-A640-0D2540C42531}" srcOrd="0" destOrd="0" presId="urn:microsoft.com/office/officeart/2018/2/layout/IconLabelList"/>
    <dgm:cxn modelId="{7E59D00A-C634-4CBF-8862-835B971179BF}" type="presParOf" srcId="{7DBEE98E-B9F0-4911-9BA1-299ADBC9F11B}" destId="{4CF96B5A-D627-4792-918D-8A6059BAB99B}" srcOrd="0" destOrd="0" presId="urn:microsoft.com/office/officeart/2018/2/layout/IconLabelList"/>
    <dgm:cxn modelId="{84633A3A-B766-4A5E-8B6F-1516C7403585}" type="presParOf" srcId="{4CF96B5A-D627-4792-918D-8A6059BAB99B}" destId="{847B7B52-F340-49F6-9AF9-054AD4995529}" srcOrd="0" destOrd="0" presId="urn:microsoft.com/office/officeart/2018/2/layout/IconLabelList"/>
    <dgm:cxn modelId="{989A7981-263E-4246-89E5-59C049D81724}" type="presParOf" srcId="{4CF96B5A-D627-4792-918D-8A6059BAB99B}" destId="{C607087E-3533-4846-8048-CD11A413C25B}" srcOrd="1" destOrd="0" presId="urn:microsoft.com/office/officeart/2018/2/layout/IconLabelList"/>
    <dgm:cxn modelId="{F25B14F6-0E1F-404E-B664-4DBEC90B82B0}" type="presParOf" srcId="{4CF96B5A-D627-4792-918D-8A6059BAB99B}" destId="{29A613BE-CDC3-4093-B285-967121C785D5}" srcOrd="2" destOrd="0" presId="urn:microsoft.com/office/officeart/2018/2/layout/IconLabelList"/>
    <dgm:cxn modelId="{9D121B55-43AB-4A9E-9FC2-D2D05EEDDCA3}" type="presParOf" srcId="{7DBEE98E-B9F0-4911-9BA1-299ADBC9F11B}" destId="{9ADA1799-4F4C-40D7-87D8-A20E3B0F901A}" srcOrd="1" destOrd="0" presId="urn:microsoft.com/office/officeart/2018/2/layout/IconLabelList"/>
    <dgm:cxn modelId="{CDE4903D-5802-4D13-BE56-48D881537C6F}" type="presParOf" srcId="{7DBEE98E-B9F0-4911-9BA1-299ADBC9F11B}" destId="{71FC3DE9-28D7-4407-AB24-D5D9B10565B0}" srcOrd="2" destOrd="0" presId="urn:microsoft.com/office/officeart/2018/2/layout/IconLabelList"/>
    <dgm:cxn modelId="{BA839870-BB4C-4CFD-8DAA-82F23E684D95}" type="presParOf" srcId="{71FC3DE9-28D7-4407-AB24-D5D9B10565B0}" destId="{89C24B5B-F320-4CA2-A445-561E1719ED32}" srcOrd="0" destOrd="0" presId="urn:microsoft.com/office/officeart/2018/2/layout/IconLabelList"/>
    <dgm:cxn modelId="{0663F322-D816-48E5-91C8-5CB86382DC88}" type="presParOf" srcId="{71FC3DE9-28D7-4407-AB24-D5D9B10565B0}" destId="{4FAC3F23-ADC6-494A-9723-DAECEDA0D790}" srcOrd="1" destOrd="0" presId="urn:microsoft.com/office/officeart/2018/2/layout/IconLabelList"/>
    <dgm:cxn modelId="{FB0D8ADE-6126-4312-89D0-7C700038F047}" type="presParOf" srcId="{71FC3DE9-28D7-4407-AB24-D5D9B10565B0}" destId="{59674F96-5778-4D6D-ADF1-F60F00528B0F}" srcOrd="2" destOrd="0" presId="urn:microsoft.com/office/officeart/2018/2/layout/IconLabelList"/>
    <dgm:cxn modelId="{1B77831B-D08A-461E-B875-652F7474108D}" type="presParOf" srcId="{7DBEE98E-B9F0-4911-9BA1-299ADBC9F11B}" destId="{9ADEB5B7-1AD0-47F4-A982-6460496DDB06}" srcOrd="3" destOrd="0" presId="urn:microsoft.com/office/officeart/2018/2/layout/IconLabelList"/>
    <dgm:cxn modelId="{A23BEE5A-A0A9-4486-97D5-F4B253D77688}" type="presParOf" srcId="{7DBEE98E-B9F0-4911-9BA1-299ADBC9F11B}" destId="{E5E5E9E3-A779-4A13-84B5-F833BA646BD0}" srcOrd="4" destOrd="0" presId="urn:microsoft.com/office/officeart/2018/2/layout/IconLabelList"/>
    <dgm:cxn modelId="{FA8C03D6-D6BF-415C-A382-23B2A4A45DDE}" type="presParOf" srcId="{E5E5E9E3-A779-4A13-84B5-F833BA646BD0}" destId="{3989B660-9110-4995-81FC-539C381D5F64}" srcOrd="0" destOrd="0" presId="urn:microsoft.com/office/officeart/2018/2/layout/IconLabelList"/>
    <dgm:cxn modelId="{9E34F2EC-E360-4351-B815-693CD0142EFD}" type="presParOf" srcId="{E5E5E9E3-A779-4A13-84B5-F833BA646BD0}" destId="{DBE093CF-23EC-42CC-B3F8-5047AA5185B6}" srcOrd="1" destOrd="0" presId="urn:microsoft.com/office/officeart/2018/2/layout/IconLabelList"/>
    <dgm:cxn modelId="{9C6B833B-9986-4A4E-B4C2-F74E7AD5479E}" type="presParOf" srcId="{E5E5E9E3-A779-4A13-84B5-F833BA646BD0}" destId="{7207A4AC-3F3E-462C-AF4C-83C29C31BB4E}" srcOrd="2" destOrd="0" presId="urn:microsoft.com/office/officeart/2018/2/layout/IconLabelList"/>
    <dgm:cxn modelId="{5F264951-FD3D-43BD-877A-BB1082C5F754}" type="presParOf" srcId="{7DBEE98E-B9F0-4911-9BA1-299ADBC9F11B}" destId="{98782E83-6B6B-40C5-B00E-BCE300A58080}" srcOrd="5" destOrd="0" presId="urn:microsoft.com/office/officeart/2018/2/layout/IconLabelList"/>
    <dgm:cxn modelId="{9B7F2E78-C760-4909-8773-D459940097EF}" type="presParOf" srcId="{7DBEE98E-B9F0-4911-9BA1-299ADBC9F11B}" destId="{33E89687-581B-496E-9933-5DD8AC731D92}" srcOrd="6" destOrd="0" presId="urn:microsoft.com/office/officeart/2018/2/layout/IconLabelList"/>
    <dgm:cxn modelId="{2166F812-9337-420F-A571-8C3EB7EA7020}" type="presParOf" srcId="{33E89687-581B-496E-9933-5DD8AC731D92}" destId="{EA38B6AC-01E9-4FF5-82A3-E573A88BB56C}" srcOrd="0" destOrd="0" presId="urn:microsoft.com/office/officeart/2018/2/layout/IconLabelList"/>
    <dgm:cxn modelId="{DE319ACD-0AF4-4CA2-9D88-E021E03CB671}" type="presParOf" srcId="{33E89687-581B-496E-9933-5DD8AC731D92}" destId="{ED6DA322-9CE5-4EFF-98A2-FB01F8C24D3E}" srcOrd="1" destOrd="0" presId="urn:microsoft.com/office/officeart/2018/2/layout/IconLabelList"/>
    <dgm:cxn modelId="{996D1461-6B82-4389-BBC7-D1933C85E08B}" type="presParOf" srcId="{33E89687-581B-496E-9933-5DD8AC731D92}" destId="{BDBFCBC3-9950-48F2-A640-0D2540C4253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20CBA05-D2A2-4BD7-B6FE-78E76C8F01C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521E6A6-A714-4924-BD27-C93B137B1C69}">
      <dgm:prSet/>
      <dgm:spPr/>
      <dgm:t>
        <a:bodyPr/>
        <a:lstStyle/>
        <a:p>
          <a:pPr>
            <a:lnSpc>
              <a:spcPct val="100000"/>
            </a:lnSpc>
          </a:pPr>
          <a:r>
            <a:rPr lang="en-US" b="0"/>
            <a:t>Deploy MVP and document APIs for next phase</a:t>
          </a:r>
          <a:endParaRPr lang="en-US"/>
        </a:p>
      </dgm:t>
    </dgm:pt>
    <dgm:pt modelId="{32CED462-1075-4A83-89E4-A9B7172830BD}" type="parTrans" cxnId="{A9DEC97B-5FAC-4CAD-982E-C119BF3E8700}">
      <dgm:prSet/>
      <dgm:spPr/>
      <dgm:t>
        <a:bodyPr/>
        <a:lstStyle/>
        <a:p>
          <a:endParaRPr lang="en-US"/>
        </a:p>
      </dgm:t>
    </dgm:pt>
    <dgm:pt modelId="{D25F9F56-378D-4842-84A8-03A8A57E0B6C}" type="sibTrans" cxnId="{A9DEC97B-5FAC-4CAD-982E-C119BF3E8700}">
      <dgm:prSet/>
      <dgm:spPr/>
      <dgm:t>
        <a:bodyPr/>
        <a:lstStyle/>
        <a:p>
          <a:pPr>
            <a:lnSpc>
              <a:spcPct val="100000"/>
            </a:lnSpc>
          </a:pPr>
          <a:endParaRPr lang="en-US"/>
        </a:p>
      </dgm:t>
    </dgm:pt>
    <dgm:pt modelId="{240D3E9D-8BAF-4ED7-80DE-FD7D6DC89801}">
      <dgm:prSet phldr="0"/>
      <dgm:spPr/>
      <dgm:t>
        <a:bodyPr/>
        <a:lstStyle/>
        <a:p>
          <a:pPr>
            <a:lnSpc>
              <a:spcPct val="100000"/>
            </a:lnSpc>
          </a:pPr>
          <a:r>
            <a:rPr lang="en-US"/>
            <a:t>Integrate all microservices end-to-end</a:t>
          </a:r>
        </a:p>
      </dgm:t>
    </dgm:pt>
    <dgm:pt modelId="{660916AB-9EB1-402D-87BE-100C0A313B16}" type="parTrans" cxnId="{2F6975D3-07A0-4AF0-8389-A148F656F34B}">
      <dgm:prSet/>
      <dgm:spPr/>
    </dgm:pt>
    <dgm:pt modelId="{E6D613BF-118B-4109-82F7-0B97D4C84528}" type="sibTrans" cxnId="{2F6975D3-07A0-4AF0-8389-A148F656F34B}">
      <dgm:prSet/>
      <dgm:spPr/>
    </dgm:pt>
    <dgm:pt modelId="{7324287D-AC96-4DDB-9887-29145C68748C}">
      <dgm:prSet phldr="0"/>
      <dgm:spPr/>
      <dgm:t>
        <a:bodyPr/>
        <a:lstStyle/>
        <a:p>
          <a:pPr>
            <a:lnSpc>
              <a:spcPct val="100000"/>
            </a:lnSpc>
          </a:pPr>
          <a:r>
            <a:rPr lang="en-US"/>
            <a:t>Harden </a:t>
          </a:r>
          <a:r>
            <a:rPr lang="en-US" b="1"/>
            <a:t>security and authentication flows</a:t>
          </a:r>
          <a:endParaRPr lang="en-US"/>
        </a:p>
      </dgm:t>
    </dgm:pt>
    <dgm:pt modelId="{0BAF575E-50F9-4939-97F5-1D1254126485}" type="parTrans" cxnId="{66DD94E5-9F59-4A0A-8DF5-954B8238CD68}">
      <dgm:prSet/>
      <dgm:spPr/>
    </dgm:pt>
    <dgm:pt modelId="{32609E90-189B-4821-A887-FBBEDD35CDA3}" type="sibTrans" cxnId="{66DD94E5-9F59-4A0A-8DF5-954B8238CD68}">
      <dgm:prSet/>
      <dgm:spPr/>
    </dgm:pt>
    <dgm:pt modelId="{A06543DD-469C-4A91-BA0F-EB4153D0D2C5}">
      <dgm:prSet phldr="0"/>
      <dgm:spPr/>
      <dgm:t>
        <a:bodyPr/>
        <a:lstStyle/>
        <a:p>
          <a:pPr>
            <a:lnSpc>
              <a:spcPct val="100000"/>
            </a:lnSpc>
          </a:pPr>
          <a:r>
            <a:rPr lang="en-US"/>
            <a:t>Conduct </a:t>
          </a:r>
          <a:r>
            <a:rPr lang="en-US" b="1"/>
            <a:t>load testing and performance tuning</a:t>
          </a:r>
          <a:endParaRPr lang="en-US"/>
        </a:p>
      </dgm:t>
    </dgm:pt>
    <dgm:pt modelId="{402FDC86-0475-41AC-9505-F9D0E367355D}" type="parTrans" cxnId="{99901FA8-0B0F-4521-A41A-3365BB3AE430}">
      <dgm:prSet/>
      <dgm:spPr/>
    </dgm:pt>
    <dgm:pt modelId="{A4E15BD4-7168-4AD7-990A-541563BDF6E9}" type="sibTrans" cxnId="{99901FA8-0B0F-4521-A41A-3365BB3AE430}">
      <dgm:prSet/>
      <dgm:spPr/>
    </dgm:pt>
    <dgm:pt modelId="{7DBEE98E-B9F0-4911-9BA1-299ADBC9F11B}" type="pres">
      <dgm:prSet presAssocID="{D20CBA05-D2A2-4BD7-B6FE-78E76C8F01CD}" presName="root" presStyleCnt="0">
        <dgm:presLayoutVars>
          <dgm:dir/>
          <dgm:resizeHandles val="exact"/>
        </dgm:presLayoutVars>
      </dgm:prSet>
      <dgm:spPr/>
    </dgm:pt>
    <dgm:pt modelId="{E5E5E9E3-A779-4A13-84B5-F833BA646BD0}" type="pres">
      <dgm:prSet presAssocID="{240D3E9D-8BAF-4ED7-80DE-FD7D6DC89801}" presName="compNode" presStyleCnt="0"/>
      <dgm:spPr/>
    </dgm:pt>
    <dgm:pt modelId="{3989B660-9110-4995-81FC-539C381D5F64}" type="pres">
      <dgm:prSet presAssocID="{240D3E9D-8BAF-4ED7-80DE-FD7D6DC89801}" presName="iconRect" presStyleLbl="node1" presStyleIdx="0" presStyleCnt="4"/>
      <dgm:spPr>
        <a:blipFill>
          <a:blip xmlns:r="http://schemas.openxmlformats.org/officeDocument/2006/relationships" r:embed="rId1"/>
          <a:stretch>
            <a:fillRect/>
          </a:stretch>
        </a:blipFill>
      </dgm:spPr>
      <dgm:extLst>
        <a:ext uri="{E40237B7-FDA0-4F09-8148-C483321AD2D9}">
          <dgm14:cNvPr xmlns:dgm14="http://schemas.microsoft.com/office/drawing/2010/diagram" id="0" name="" descr="Reference architecture | Google Cloud | kdb+ and q documentation - kdb+ ..."/>
        </a:ext>
      </dgm:extLst>
    </dgm:pt>
    <dgm:pt modelId="{DBE093CF-23EC-42CC-B3F8-5047AA5185B6}" type="pres">
      <dgm:prSet presAssocID="{240D3E9D-8BAF-4ED7-80DE-FD7D6DC89801}" presName="spaceRect" presStyleCnt="0"/>
      <dgm:spPr/>
    </dgm:pt>
    <dgm:pt modelId="{7207A4AC-3F3E-462C-AF4C-83C29C31BB4E}" type="pres">
      <dgm:prSet presAssocID="{240D3E9D-8BAF-4ED7-80DE-FD7D6DC89801}" presName="textRect" presStyleLbl="revTx" presStyleIdx="0" presStyleCnt="4">
        <dgm:presLayoutVars>
          <dgm:chMax val="1"/>
          <dgm:chPref val="1"/>
        </dgm:presLayoutVars>
      </dgm:prSet>
      <dgm:spPr/>
    </dgm:pt>
    <dgm:pt modelId="{98782E83-6B6B-40C5-B00E-BCE300A58080}" type="pres">
      <dgm:prSet presAssocID="{E6D613BF-118B-4109-82F7-0B97D4C84528}" presName="sibTrans" presStyleCnt="0"/>
      <dgm:spPr/>
    </dgm:pt>
    <dgm:pt modelId="{89958485-F920-4306-8CDB-9ABB0E9A44DC}" type="pres">
      <dgm:prSet presAssocID="{7324287D-AC96-4DDB-9887-29145C68748C}" presName="compNode" presStyleCnt="0"/>
      <dgm:spPr/>
    </dgm:pt>
    <dgm:pt modelId="{9725A4E8-3A6F-454C-AE36-242355DBB73F}" type="pres">
      <dgm:prSet presAssocID="{7324287D-AC96-4DDB-9887-29145C68748C}" presName="iconRect" presStyleLbl="node1" presStyleIdx="1" presStyleCnt="4"/>
      <dgm:spPr>
        <a:blipFill>
          <a:blip xmlns:r="http://schemas.openxmlformats.org/officeDocument/2006/relationships" r:embed="rId2">
            <a:extLst>
              <a:ext uri="{28A0092B-C50C-407E-A947-70E740481C1C}">
                <a14:useLocalDpi xmlns:a14="http://schemas.microsoft.com/office/drawing/2010/main" val="0"/>
              </a:ext>
            </a:extLst>
          </a:blip>
          <a:stretch>
            <a:fillRect/>
          </a:stretch>
        </a:blipFill>
      </dgm:spPr>
      <dgm:extLst>
        <a:ext uri="{E40237B7-FDA0-4F09-8148-C483321AD2D9}">
          <dgm14:cNvPr xmlns:dgm14="http://schemas.microsoft.com/office/drawing/2010/diagram" id="0" name="" descr="Isolated heart padlock graphic icon | Free stock vector - 457469"/>
        </a:ext>
      </dgm:extLst>
    </dgm:pt>
    <dgm:pt modelId="{84E454E9-F403-4D46-88E9-0284E68955DD}" type="pres">
      <dgm:prSet presAssocID="{7324287D-AC96-4DDB-9887-29145C68748C}" presName="spaceRect" presStyleCnt="0"/>
      <dgm:spPr/>
    </dgm:pt>
    <dgm:pt modelId="{50445AA0-333E-4547-979D-A6CA86BC7678}" type="pres">
      <dgm:prSet presAssocID="{7324287D-AC96-4DDB-9887-29145C68748C}" presName="textRect" presStyleLbl="revTx" presStyleIdx="1" presStyleCnt="4">
        <dgm:presLayoutVars>
          <dgm:chMax val="1"/>
          <dgm:chPref val="1"/>
        </dgm:presLayoutVars>
      </dgm:prSet>
      <dgm:spPr/>
    </dgm:pt>
    <dgm:pt modelId="{12545F04-6DDB-41A2-8B79-35A15B55938D}" type="pres">
      <dgm:prSet presAssocID="{32609E90-189B-4821-A887-FBBEDD35CDA3}" presName="sibTrans" presStyleCnt="0"/>
      <dgm:spPr/>
    </dgm:pt>
    <dgm:pt modelId="{E0F77714-DFA8-4C1A-89D4-8C1AB8E26D1F}" type="pres">
      <dgm:prSet presAssocID="{A06543DD-469C-4A91-BA0F-EB4153D0D2C5}" presName="compNode" presStyleCnt="0"/>
      <dgm:spPr/>
    </dgm:pt>
    <dgm:pt modelId="{0C5F4C53-972A-4769-902E-6B6EDB17CBD7}" type="pres">
      <dgm:prSet presAssocID="{A06543DD-469C-4A91-BA0F-EB4153D0D2C5}" presName="iconRect" presStyleLbl="node1" presStyleIdx="2" presStyleCnt="4"/>
      <dgm:spPr>
        <a:blipFill>
          <a:blip xmlns:r="http://schemas.openxmlformats.org/officeDocument/2006/relationships" r:embed="rId3">
            <a:extLst>
              <a:ext uri="{28A0092B-C50C-407E-A947-70E740481C1C}">
                <a14:useLocalDpi xmlns:a14="http://schemas.microsoft.com/office/drawing/2010/main" val="0"/>
              </a:ext>
            </a:extLst>
          </a:blip>
          <a:stretch>
            <a:fillRect/>
          </a:stretch>
        </a:blipFill>
      </dgm:spPr>
      <dgm:extLst>
        <a:ext uri="{E40237B7-FDA0-4F09-8148-C483321AD2D9}">
          <dgm14:cNvPr xmlns:dgm14="http://schemas.microsoft.com/office/drawing/2010/diagram" id="0" name="" descr="eRegulations Bénin"/>
        </a:ext>
      </dgm:extLst>
    </dgm:pt>
    <dgm:pt modelId="{5F967E9E-91C4-4FEF-8519-BC786BE7AF9F}" type="pres">
      <dgm:prSet presAssocID="{A06543DD-469C-4A91-BA0F-EB4153D0D2C5}" presName="spaceRect" presStyleCnt="0"/>
      <dgm:spPr/>
    </dgm:pt>
    <dgm:pt modelId="{F2934674-BF68-4DDB-B1C8-193793507FA9}" type="pres">
      <dgm:prSet presAssocID="{A06543DD-469C-4A91-BA0F-EB4153D0D2C5}" presName="textRect" presStyleLbl="revTx" presStyleIdx="2" presStyleCnt="4">
        <dgm:presLayoutVars>
          <dgm:chMax val="1"/>
          <dgm:chPref val="1"/>
        </dgm:presLayoutVars>
      </dgm:prSet>
      <dgm:spPr/>
    </dgm:pt>
    <dgm:pt modelId="{87D9F6C9-287A-41BB-9F4C-1EF216E9E36E}" type="pres">
      <dgm:prSet presAssocID="{A4E15BD4-7168-4AD7-990A-541563BDF6E9}" presName="sibTrans" presStyleCnt="0"/>
      <dgm:spPr/>
    </dgm:pt>
    <dgm:pt modelId="{33E89687-581B-496E-9933-5DD8AC731D92}" type="pres">
      <dgm:prSet presAssocID="{8521E6A6-A714-4924-BD27-C93B137B1C69}" presName="compNode" presStyleCnt="0"/>
      <dgm:spPr/>
    </dgm:pt>
    <dgm:pt modelId="{EA38B6AC-01E9-4FF5-82A3-E573A88BB56C}" type="pres">
      <dgm:prSet presAssocID="{8521E6A6-A714-4924-BD27-C93B137B1C69}" presName="iconRect" presStyleLbl="node1" presStyleIdx="3"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erver"/>
        </a:ext>
      </dgm:extLst>
    </dgm:pt>
    <dgm:pt modelId="{ED6DA322-9CE5-4EFF-98A2-FB01F8C24D3E}" type="pres">
      <dgm:prSet presAssocID="{8521E6A6-A714-4924-BD27-C93B137B1C69}" presName="spaceRect" presStyleCnt="0"/>
      <dgm:spPr/>
    </dgm:pt>
    <dgm:pt modelId="{BDBFCBC3-9950-48F2-A640-0D2540C42531}" type="pres">
      <dgm:prSet presAssocID="{8521E6A6-A714-4924-BD27-C93B137B1C69}" presName="textRect" presStyleLbl="revTx" presStyleIdx="3" presStyleCnt="4">
        <dgm:presLayoutVars>
          <dgm:chMax val="1"/>
          <dgm:chPref val="1"/>
        </dgm:presLayoutVars>
      </dgm:prSet>
      <dgm:spPr/>
    </dgm:pt>
  </dgm:ptLst>
  <dgm:cxnLst>
    <dgm:cxn modelId="{9D4BC710-48E0-4F0D-8B7D-9ECA5F81312E}" type="presOf" srcId="{7324287D-AC96-4DDB-9887-29145C68748C}" destId="{50445AA0-333E-4547-979D-A6CA86BC7678}" srcOrd="0" destOrd="0" presId="urn:microsoft.com/office/officeart/2018/2/layout/IconLabelList"/>
    <dgm:cxn modelId="{F470A148-E810-44F0-9CB4-0B2CBB6662DA}" type="presOf" srcId="{D20CBA05-D2A2-4BD7-B6FE-78E76C8F01CD}" destId="{7DBEE98E-B9F0-4911-9BA1-299ADBC9F11B}" srcOrd="0" destOrd="0" presId="urn:microsoft.com/office/officeart/2018/2/layout/IconLabelList"/>
    <dgm:cxn modelId="{A9DEC97B-5FAC-4CAD-982E-C119BF3E8700}" srcId="{D20CBA05-D2A2-4BD7-B6FE-78E76C8F01CD}" destId="{8521E6A6-A714-4924-BD27-C93B137B1C69}" srcOrd="3" destOrd="0" parTransId="{32CED462-1075-4A83-89E4-A9B7172830BD}" sibTransId="{D25F9F56-378D-4842-84A8-03A8A57E0B6C}"/>
    <dgm:cxn modelId="{99901FA8-0B0F-4521-A41A-3365BB3AE430}" srcId="{D20CBA05-D2A2-4BD7-B6FE-78E76C8F01CD}" destId="{A06543DD-469C-4A91-BA0F-EB4153D0D2C5}" srcOrd="2" destOrd="0" parTransId="{402FDC86-0475-41AC-9505-F9D0E367355D}" sibTransId="{A4E15BD4-7168-4AD7-990A-541563BDF6E9}"/>
    <dgm:cxn modelId="{87CD9AC6-650D-40B1-B56D-66B6E0B82685}" type="presOf" srcId="{8521E6A6-A714-4924-BD27-C93B137B1C69}" destId="{BDBFCBC3-9950-48F2-A640-0D2540C42531}" srcOrd="0" destOrd="0" presId="urn:microsoft.com/office/officeart/2018/2/layout/IconLabelList"/>
    <dgm:cxn modelId="{7B8148CE-317A-4FAF-B3B2-62DF3DF0CF6B}" type="presOf" srcId="{240D3E9D-8BAF-4ED7-80DE-FD7D6DC89801}" destId="{7207A4AC-3F3E-462C-AF4C-83C29C31BB4E}" srcOrd="0" destOrd="0" presId="urn:microsoft.com/office/officeart/2018/2/layout/IconLabelList"/>
    <dgm:cxn modelId="{2F6975D3-07A0-4AF0-8389-A148F656F34B}" srcId="{D20CBA05-D2A2-4BD7-B6FE-78E76C8F01CD}" destId="{240D3E9D-8BAF-4ED7-80DE-FD7D6DC89801}" srcOrd="0" destOrd="0" parTransId="{660916AB-9EB1-402D-87BE-100C0A313B16}" sibTransId="{E6D613BF-118B-4109-82F7-0B97D4C84528}"/>
    <dgm:cxn modelId="{66DD94E5-9F59-4A0A-8DF5-954B8238CD68}" srcId="{D20CBA05-D2A2-4BD7-B6FE-78E76C8F01CD}" destId="{7324287D-AC96-4DDB-9887-29145C68748C}" srcOrd="1" destOrd="0" parTransId="{0BAF575E-50F9-4939-97F5-1D1254126485}" sibTransId="{32609E90-189B-4821-A887-FBBEDD35CDA3}"/>
    <dgm:cxn modelId="{FFC942FE-EB4A-4F5D-96E8-70A428BB2B68}" type="presOf" srcId="{A06543DD-469C-4A91-BA0F-EB4153D0D2C5}" destId="{F2934674-BF68-4DDB-B1C8-193793507FA9}" srcOrd="0" destOrd="0" presId="urn:microsoft.com/office/officeart/2018/2/layout/IconLabelList"/>
    <dgm:cxn modelId="{080A76FF-1C4E-48BE-91E7-5B2D948FF5D4}" type="presParOf" srcId="{7DBEE98E-B9F0-4911-9BA1-299ADBC9F11B}" destId="{E5E5E9E3-A779-4A13-84B5-F833BA646BD0}" srcOrd="0" destOrd="0" presId="urn:microsoft.com/office/officeart/2018/2/layout/IconLabelList"/>
    <dgm:cxn modelId="{348ED99F-5637-4DBD-A378-5CCAC4587D41}" type="presParOf" srcId="{E5E5E9E3-A779-4A13-84B5-F833BA646BD0}" destId="{3989B660-9110-4995-81FC-539C381D5F64}" srcOrd="0" destOrd="0" presId="urn:microsoft.com/office/officeart/2018/2/layout/IconLabelList"/>
    <dgm:cxn modelId="{1004B684-3971-4367-AF90-5928E4E6C130}" type="presParOf" srcId="{E5E5E9E3-A779-4A13-84B5-F833BA646BD0}" destId="{DBE093CF-23EC-42CC-B3F8-5047AA5185B6}" srcOrd="1" destOrd="0" presId="urn:microsoft.com/office/officeart/2018/2/layout/IconLabelList"/>
    <dgm:cxn modelId="{9A4F034A-BD6A-4CD6-8175-5EE8AED2836F}" type="presParOf" srcId="{E5E5E9E3-A779-4A13-84B5-F833BA646BD0}" destId="{7207A4AC-3F3E-462C-AF4C-83C29C31BB4E}" srcOrd="2" destOrd="0" presId="urn:microsoft.com/office/officeart/2018/2/layout/IconLabelList"/>
    <dgm:cxn modelId="{00A6CA6F-B120-497F-88DE-142AAFC56B46}" type="presParOf" srcId="{7DBEE98E-B9F0-4911-9BA1-299ADBC9F11B}" destId="{98782E83-6B6B-40C5-B00E-BCE300A58080}" srcOrd="1" destOrd="0" presId="urn:microsoft.com/office/officeart/2018/2/layout/IconLabelList"/>
    <dgm:cxn modelId="{DD1C477A-742A-4282-BEDF-232BD8AFA25C}" type="presParOf" srcId="{7DBEE98E-B9F0-4911-9BA1-299ADBC9F11B}" destId="{89958485-F920-4306-8CDB-9ABB0E9A44DC}" srcOrd="2" destOrd="0" presId="urn:microsoft.com/office/officeart/2018/2/layout/IconLabelList"/>
    <dgm:cxn modelId="{07FA8C40-A1E4-4A94-8921-1F24C89029FB}" type="presParOf" srcId="{89958485-F920-4306-8CDB-9ABB0E9A44DC}" destId="{9725A4E8-3A6F-454C-AE36-242355DBB73F}" srcOrd="0" destOrd="0" presId="urn:microsoft.com/office/officeart/2018/2/layout/IconLabelList"/>
    <dgm:cxn modelId="{A93D5B25-34FE-4AB7-A349-D358AA5AEE29}" type="presParOf" srcId="{89958485-F920-4306-8CDB-9ABB0E9A44DC}" destId="{84E454E9-F403-4D46-88E9-0284E68955DD}" srcOrd="1" destOrd="0" presId="urn:microsoft.com/office/officeart/2018/2/layout/IconLabelList"/>
    <dgm:cxn modelId="{2852B3E4-7C86-41C3-8F10-DFD633454FB7}" type="presParOf" srcId="{89958485-F920-4306-8CDB-9ABB0E9A44DC}" destId="{50445AA0-333E-4547-979D-A6CA86BC7678}" srcOrd="2" destOrd="0" presId="urn:microsoft.com/office/officeart/2018/2/layout/IconLabelList"/>
    <dgm:cxn modelId="{EEBE2F03-470D-4F15-B24A-52CB540BC707}" type="presParOf" srcId="{7DBEE98E-B9F0-4911-9BA1-299ADBC9F11B}" destId="{12545F04-6DDB-41A2-8B79-35A15B55938D}" srcOrd="3" destOrd="0" presId="urn:microsoft.com/office/officeart/2018/2/layout/IconLabelList"/>
    <dgm:cxn modelId="{3BBAB497-7272-454E-9832-E1F784D06C46}" type="presParOf" srcId="{7DBEE98E-B9F0-4911-9BA1-299ADBC9F11B}" destId="{E0F77714-DFA8-4C1A-89D4-8C1AB8E26D1F}" srcOrd="4" destOrd="0" presId="urn:microsoft.com/office/officeart/2018/2/layout/IconLabelList"/>
    <dgm:cxn modelId="{9A355F99-D765-447A-AF39-84C473D680D7}" type="presParOf" srcId="{E0F77714-DFA8-4C1A-89D4-8C1AB8E26D1F}" destId="{0C5F4C53-972A-4769-902E-6B6EDB17CBD7}" srcOrd="0" destOrd="0" presId="urn:microsoft.com/office/officeart/2018/2/layout/IconLabelList"/>
    <dgm:cxn modelId="{D181FE28-614D-499F-BEC1-72D04425C794}" type="presParOf" srcId="{E0F77714-DFA8-4C1A-89D4-8C1AB8E26D1F}" destId="{5F967E9E-91C4-4FEF-8519-BC786BE7AF9F}" srcOrd="1" destOrd="0" presId="urn:microsoft.com/office/officeart/2018/2/layout/IconLabelList"/>
    <dgm:cxn modelId="{EA8EF6D5-AA38-4029-9E83-023249A0C690}" type="presParOf" srcId="{E0F77714-DFA8-4C1A-89D4-8C1AB8E26D1F}" destId="{F2934674-BF68-4DDB-B1C8-193793507FA9}" srcOrd="2" destOrd="0" presId="urn:microsoft.com/office/officeart/2018/2/layout/IconLabelList"/>
    <dgm:cxn modelId="{573C1A24-2A3C-4F8B-80EF-DD2E9C80D4B2}" type="presParOf" srcId="{7DBEE98E-B9F0-4911-9BA1-299ADBC9F11B}" destId="{87D9F6C9-287A-41BB-9F4C-1EF216E9E36E}" srcOrd="5" destOrd="0" presId="urn:microsoft.com/office/officeart/2018/2/layout/IconLabelList"/>
    <dgm:cxn modelId="{7796DC73-8123-493A-9EDC-93EE2FDBC068}" type="presParOf" srcId="{7DBEE98E-B9F0-4911-9BA1-299ADBC9F11B}" destId="{33E89687-581B-496E-9933-5DD8AC731D92}" srcOrd="6" destOrd="0" presId="urn:microsoft.com/office/officeart/2018/2/layout/IconLabelList"/>
    <dgm:cxn modelId="{0D305D07-1736-4C25-8DCB-3A0D22640341}" type="presParOf" srcId="{33E89687-581B-496E-9933-5DD8AC731D92}" destId="{EA38B6AC-01E9-4FF5-82A3-E573A88BB56C}" srcOrd="0" destOrd="0" presId="urn:microsoft.com/office/officeart/2018/2/layout/IconLabelList"/>
    <dgm:cxn modelId="{722F3D5B-F00E-4185-86F1-D3A77C5258EF}" type="presParOf" srcId="{33E89687-581B-496E-9933-5DD8AC731D92}" destId="{ED6DA322-9CE5-4EFF-98A2-FB01F8C24D3E}" srcOrd="1" destOrd="0" presId="urn:microsoft.com/office/officeart/2018/2/layout/IconLabelList"/>
    <dgm:cxn modelId="{347A449D-278D-47FD-A27D-A37DCA13B9AE}" type="presParOf" srcId="{33E89687-581B-496E-9933-5DD8AC731D92}" destId="{BDBFCBC3-9950-48F2-A640-0D2540C4253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B11C22-8921-480F-85E1-D8375279CD5B}">
      <dsp:nvSpPr>
        <dsp:cNvPr id="0" name=""/>
        <dsp:cNvSpPr/>
      </dsp:nvSpPr>
      <dsp:spPr>
        <a:xfrm>
          <a:off x="330575" y="1028"/>
          <a:ext cx="2336277" cy="140176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a:t>
          </a:r>
          <a:r>
            <a:rPr lang="en-US" sz="1700" b="1" kern="1200"/>
            <a:t>Retry Mechanisms</a:t>
          </a:r>
          <a:r>
            <a:rPr lang="en-US" sz="1700" kern="1200"/>
            <a:t>: Automatic retry with exponential backoff for transient failures</a:t>
          </a:r>
        </a:p>
      </dsp:txBody>
      <dsp:txXfrm>
        <a:off x="330575" y="1028"/>
        <a:ext cx="2336277" cy="1401766"/>
      </dsp:txXfrm>
    </dsp:sp>
    <dsp:sp modelId="{36F41439-BAF7-4C77-86C5-72B1A456F960}">
      <dsp:nvSpPr>
        <dsp:cNvPr id="0" name=""/>
        <dsp:cNvSpPr/>
      </dsp:nvSpPr>
      <dsp:spPr>
        <a:xfrm>
          <a:off x="2900479" y="1028"/>
          <a:ext cx="2336277" cy="140176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a:t>
          </a:r>
          <a:r>
            <a:rPr lang="en-US" sz="1700" b="1" kern="1200"/>
            <a:t>Circuit Breaker Pattern</a:t>
          </a:r>
          <a:r>
            <a:rPr lang="en-US" sz="1700" kern="1200"/>
            <a:t>: Prevent repeated calls to failing services, enable auto-recovery</a:t>
          </a:r>
        </a:p>
      </dsp:txBody>
      <dsp:txXfrm>
        <a:off x="2900479" y="1028"/>
        <a:ext cx="2336277" cy="1401766"/>
      </dsp:txXfrm>
    </dsp:sp>
    <dsp:sp modelId="{B2EB15F0-263A-47A2-A28D-202F583FC132}">
      <dsp:nvSpPr>
        <dsp:cNvPr id="0" name=""/>
        <dsp:cNvSpPr/>
      </dsp:nvSpPr>
      <dsp:spPr>
        <a:xfrm>
          <a:off x="5470384" y="1028"/>
          <a:ext cx="2336277" cy="140176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a:t>
          </a:r>
          <a:r>
            <a:rPr lang="en-US" sz="1700" b="1" kern="1200"/>
            <a:t>Fallback Strategies</a:t>
          </a:r>
          <a:r>
            <a:rPr lang="en-US" sz="1700" kern="1200"/>
            <a:t>: Cache-based degraded operation when real-time services unavailable</a:t>
          </a:r>
        </a:p>
      </dsp:txBody>
      <dsp:txXfrm>
        <a:off x="5470384" y="1028"/>
        <a:ext cx="2336277" cy="1401766"/>
      </dsp:txXfrm>
    </dsp:sp>
    <dsp:sp modelId="{29C45A78-3BE4-4607-84EE-649CE03F79C6}">
      <dsp:nvSpPr>
        <dsp:cNvPr id="0" name=""/>
        <dsp:cNvSpPr/>
      </dsp:nvSpPr>
      <dsp:spPr>
        <a:xfrm>
          <a:off x="330575" y="1636422"/>
          <a:ext cx="2336277" cy="140176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a:t>
          </a:r>
          <a:r>
            <a:rPr lang="en-US" sz="1700" b="1" kern="1200"/>
            <a:t>Rate Limit Management</a:t>
          </a:r>
          <a:r>
            <a:rPr lang="en-US" sz="1700" kern="1200"/>
            <a:t>: Intelligent request queuing for external API constraints</a:t>
          </a:r>
        </a:p>
      </dsp:txBody>
      <dsp:txXfrm>
        <a:off x="330575" y="1636422"/>
        <a:ext cx="2336277" cy="1401766"/>
      </dsp:txXfrm>
    </dsp:sp>
    <dsp:sp modelId="{39D88465-6D7D-4FE5-9F62-655E2FE51D10}">
      <dsp:nvSpPr>
        <dsp:cNvPr id="0" name=""/>
        <dsp:cNvSpPr/>
      </dsp:nvSpPr>
      <dsp:spPr>
        <a:xfrm>
          <a:off x="2900479" y="1636422"/>
          <a:ext cx="2336277" cy="140176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a:t>
          </a:r>
          <a:r>
            <a:rPr lang="en-US" sz="1700" b="1" kern="1200"/>
            <a:t>Comprehensive Logging</a:t>
          </a:r>
          <a:r>
            <a:rPr lang="en-US" sz="1700" kern="1200"/>
            <a:t>: Correlation IDs for distributed transaction debugging</a:t>
          </a:r>
        </a:p>
      </dsp:txBody>
      <dsp:txXfrm>
        <a:off x="2900479" y="1636422"/>
        <a:ext cx="2336277" cy="1401766"/>
      </dsp:txXfrm>
    </dsp:sp>
    <dsp:sp modelId="{841A2E82-CBA8-49A4-B8BE-3550BA047897}">
      <dsp:nvSpPr>
        <dsp:cNvPr id="0" name=""/>
        <dsp:cNvSpPr/>
      </dsp:nvSpPr>
      <dsp:spPr>
        <a:xfrm>
          <a:off x="5470384" y="1636422"/>
          <a:ext cx="2336277" cy="140176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a:t>
          </a:r>
          <a:r>
            <a:rPr lang="en-US" sz="1700" b="1" kern="1200"/>
            <a:t>Input Validation</a:t>
          </a:r>
          <a:r>
            <a:rPr lang="en-US" sz="1700" kern="1200"/>
            <a:t>: Sanitization and validation before processing to prevent downstream errors</a:t>
          </a:r>
        </a:p>
      </dsp:txBody>
      <dsp:txXfrm>
        <a:off x="5470384" y="1636422"/>
        <a:ext cx="2336277" cy="1401766"/>
      </dsp:txXfrm>
    </dsp:sp>
    <dsp:sp modelId="{A8702FD3-8DA5-4DC4-8E60-3C9EE68DB8E9}">
      <dsp:nvSpPr>
        <dsp:cNvPr id="0" name=""/>
        <dsp:cNvSpPr/>
      </dsp:nvSpPr>
      <dsp:spPr>
        <a:xfrm>
          <a:off x="2900479" y="3271816"/>
          <a:ext cx="2336277" cy="140176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 </a:t>
          </a:r>
          <a:r>
            <a:rPr lang="en-US" sz="1700" b="1" kern="1200"/>
            <a:t>User-Centric Error Handling</a:t>
          </a:r>
          <a:r>
            <a:rPr lang="en-US" sz="1700" kern="1200"/>
            <a:t>: Actionable error messages with clear recovery paths</a:t>
          </a:r>
        </a:p>
      </dsp:txBody>
      <dsp:txXfrm>
        <a:off x="2900479" y="3271816"/>
        <a:ext cx="2336277" cy="14017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7B7B52-F340-49F6-9AF9-054AD4995529}">
      <dsp:nvSpPr>
        <dsp:cNvPr id="0" name=""/>
        <dsp:cNvSpPr/>
      </dsp:nvSpPr>
      <dsp:spPr>
        <a:xfrm>
          <a:off x="1025074" y="1082832"/>
          <a:ext cx="928905" cy="9289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A613BE-CDC3-4093-B285-967121C785D5}">
      <dsp:nvSpPr>
        <dsp:cNvPr id="0" name=""/>
        <dsp:cNvSpPr/>
      </dsp:nvSpPr>
      <dsp:spPr>
        <a:xfrm>
          <a:off x="457409" y="2302821"/>
          <a:ext cx="20642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Deploy </a:t>
          </a:r>
          <a:r>
            <a:rPr lang="en-US" sz="1500" b="1" kern="1200"/>
            <a:t>Earnings Call Service v1</a:t>
          </a:r>
          <a:r>
            <a:rPr lang="en-US" sz="1500" kern="1200"/>
            <a:t> (baseline)</a:t>
          </a:r>
        </a:p>
      </dsp:txBody>
      <dsp:txXfrm>
        <a:off x="457409" y="2302821"/>
        <a:ext cx="2064233" cy="720000"/>
      </dsp:txXfrm>
    </dsp:sp>
    <dsp:sp modelId="{89C24B5B-F320-4CA2-A445-561E1719ED32}">
      <dsp:nvSpPr>
        <dsp:cNvPr id="0" name=""/>
        <dsp:cNvSpPr/>
      </dsp:nvSpPr>
      <dsp:spPr>
        <a:xfrm>
          <a:off x="3450548" y="1082832"/>
          <a:ext cx="928905" cy="9289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674F96-5778-4D6D-ADF1-F60F00528B0F}">
      <dsp:nvSpPr>
        <dsp:cNvPr id="0" name=""/>
        <dsp:cNvSpPr/>
      </dsp:nvSpPr>
      <dsp:spPr>
        <a:xfrm>
          <a:off x="2882884" y="2302821"/>
          <a:ext cx="20642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Configure </a:t>
          </a:r>
          <a:r>
            <a:rPr lang="en-US" sz="1500" b="1" kern="1200"/>
            <a:t>User Database Service</a:t>
          </a:r>
          <a:r>
            <a:rPr lang="en-US" sz="1500" kern="1200"/>
            <a:t> (auth, access control)</a:t>
          </a:r>
        </a:p>
      </dsp:txBody>
      <dsp:txXfrm>
        <a:off x="2882884" y="2302821"/>
        <a:ext cx="2064233" cy="720000"/>
      </dsp:txXfrm>
    </dsp:sp>
    <dsp:sp modelId="{EA38B6AC-01E9-4FF5-82A3-E573A88BB56C}">
      <dsp:nvSpPr>
        <dsp:cNvPr id="0" name=""/>
        <dsp:cNvSpPr/>
      </dsp:nvSpPr>
      <dsp:spPr>
        <a:xfrm>
          <a:off x="5876023" y="1082832"/>
          <a:ext cx="928905" cy="9289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BFCBC3-9950-48F2-A640-0D2540C42531}">
      <dsp:nvSpPr>
        <dsp:cNvPr id="0" name=""/>
        <dsp:cNvSpPr/>
      </dsp:nvSpPr>
      <dsp:spPr>
        <a:xfrm>
          <a:off x="5308358" y="2302821"/>
          <a:ext cx="20642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Establish </a:t>
          </a:r>
          <a:r>
            <a:rPr lang="en-US" sz="1500" b="1" kern="1200"/>
            <a:t>API Gateway</a:t>
          </a:r>
          <a:r>
            <a:rPr lang="en-US" sz="1500" kern="1200"/>
            <a:t>, and </a:t>
          </a:r>
          <a:r>
            <a:rPr lang="en-US" sz="1500" b="1" kern="1200"/>
            <a:t>shared database</a:t>
          </a:r>
          <a:endParaRPr lang="en-US" sz="1500" kern="1200"/>
        </a:p>
      </dsp:txBody>
      <dsp:txXfrm>
        <a:off x="5308358" y="2302821"/>
        <a:ext cx="2064233" cy="720000"/>
      </dsp:txXfrm>
    </dsp:sp>
    <dsp:sp modelId="{8266F582-22D7-4DFE-831B-E9EF1B55A18A}">
      <dsp:nvSpPr>
        <dsp:cNvPr id="0" name=""/>
        <dsp:cNvSpPr/>
      </dsp:nvSpPr>
      <dsp:spPr>
        <a:xfrm>
          <a:off x="8301497" y="1082832"/>
          <a:ext cx="928905" cy="92890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DC413B-7369-443D-B997-D6C219C2C9AF}">
      <dsp:nvSpPr>
        <dsp:cNvPr id="0" name=""/>
        <dsp:cNvSpPr/>
      </dsp:nvSpPr>
      <dsp:spPr>
        <a:xfrm>
          <a:off x="7733833" y="2302821"/>
          <a:ext cx="20642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Set up </a:t>
          </a:r>
          <a:r>
            <a:rPr lang="en-US" sz="1500" b="1" kern="1200"/>
            <a:t>logging, monitoring, and environment configs</a:t>
          </a:r>
          <a:endParaRPr lang="en-US" sz="1500" kern="1200"/>
        </a:p>
      </dsp:txBody>
      <dsp:txXfrm>
        <a:off x="7733833" y="2302821"/>
        <a:ext cx="2064233"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7B7B52-F340-49F6-9AF9-054AD4995529}">
      <dsp:nvSpPr>
        <dsp:cNvPr id="0" name=""/>
        <dsp:cNvSpPr/>
      </dsp:nvSpPr>
      <dsp:spPr>
        <a:xfrm>
          <a:off x="1138979" y="1206562"/>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A613BE-CDC3-4093-B285-967121C785D5}">
      <dsp:nvSpPr>
        <dsp:cNvPr id="0" name=""/>
        <dsp:cNvSpPr/>
      </dsp:nvSpPr>
      <dsp:spPr>
        <a:xfrm>
          <a:off x="569079"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Develop </a:t>
          </a:r>
          <a:r>
            <a:rPr lang="en-US" sz="1300" b="1" kern="1200"/>
            <a:t>Stock Analysis Service</a:t>
          </a:r>
          <a:r>
            <a:rPr lang="en-US" sz="1300" kern="1200"/>
            <a:t> (data ingestion + metrics)</a:t>
          </a:r>
        </a:p>
      </dsp:txBody>
      <dsp:txXfrm>
        <a:off x="569079" y="2430961"/>
        <a:ext cx="2072362" cy="720000"/>
      </dsp:txXfrm>
    </dsp:sp>
    <dsp:sp modelId="{F7C2CC67-BED3-45A4-AAE7-53D43EA50F48}">
      <dsp:nvSpPr>
        <dsp:cNvPr id="0" name=""/>
        <dsp:cNvSpPr/>
      </dsp:nvSpPr>
      <dsp:spPr>
        <a:xfrm>
          <a:off x="3574005" y="1206562"/>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0A0BF5-165B-45B4-817A-CF60EE60AA1B}">
      <dsp:nvSpPr>
        <dsp:cNvPr id="0" name=""/>
        <dsp:cNvSpPr/>
      </dsp:nvSpPr>
      <dsp:spPr>
        <a:xfrm>
          <a:off x="3004105"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0" kern="1200"/>
            <a:t>Connect </a:t>
          </a:r>
          <a:r>
            <a:rPr lang="en-US" sz="1300" b="1" kern="1200"/>
            <a:t>market data APIs</a:t>
          </a:r>
          <a:endParaRPr lang="en-US" sz="1300" kern="1200"/>
        </a:p>
      </dsp:txBody>
      <dsp:txXfrm>
        <a:off x="3004105" y="2430961"/>
        <a:ext cx="2072362" cy="720000"/>
      </dsp:txXfrm>
    </dsp:sp>
    <dsp:sp modelId="{89C24B5B-F320-4CA2-A445-561E1719ED32}">
      <dsp:nvSpPr>
        <dsp:cNvPr id="0" name=""/>
        <dsp:cNvSpPr/>
      </dsp:nvSpPr>
      <dsp:spPr>
        <a:xfrm>
          <a:off x="6009031" y="1206562"/>
          <a:ext cx="932563" cy="932563"/>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674F96-5778-4D6D-ADF1-F60F00528B0F}">
      <dsp:nvSpPr>
        <dsp:cNvPr id="0" name=""/>
        <dsp:cNvSpPr/>
      </dsp:nvSpPr>
      <dsp:spPr>
        <a:xfrm>
          <a:off x="5439131"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Stand up </a:t>
          </a:r>
          <a:r>
            <a:rPr lang="en-US" sz="1300" b="1" kern="1200"/>
            <a:t>Portfolio Management Service</a:t>
          </a:r>
          <a:r>
            <a:rPr lang="en-US" sz="1300" kern="1200"/>
            <a:t> (</a:t>
          </a:r>
          <a:r>
            <a:rPr lang="en-US" sz="1300" b="0" kern="1200"/>
            <a:t>link </a:t>
          </a:r>
          <a:r>
            <a:rPr lang="en-US" sz="1300" kern="1200"/>
            <a:t>to </a:t>
          </a:r>
          <a:r>
            <a:rPr lang="en-US" sz="1300" b="0" kern="1200"/>
            <a:t>user data</a:t>
          </a:r>
          <a:r>
            <a:rPr lang="en-US" sz="1300" kern="1200"/>
            <a:t>)</a:t>
          </a:r>
        </a:p>
      </dsp:txBody>
      <dsp:txXfrm>
        <a:off x="5439131" y="2430961"/>
        <a:ext cx="2072362" cy="720000"/>
      </dsp:txXfrm>
    </dsp:sp>
    <dsp:sp modelId="{EA38B6AC-01E9-4FF5-82A3-E573A88BB56C}">
      <dsp:nvSpPr>
        <dsp:cNvPr id="0" name=""/>
        <dsp:cNvSpPr/>
      </dsp:nvSpPr>
      <dsp:spPr>
        <a:xfrm>
          <a:off x="8444057" y="1206562"/>
          <a:ext cx="932563" cy="932563"/>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BFCBC3-9950-48F2-A640-0D2540C42531}">
      <dsp:nvSpPr>
        <dsp:cNvPr id="0" name=""/>
        <dsp:cNvSpPr/>
      </dsp:nvSpPr>
      <dsp:spPr>
        <a:xfrm>
          <a:off x="7874157"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Implement </a:t>
          </a:r>
          <a:r>
            <a:rPr lang="en-US" sz="1300" b="1" kern="1200"/>
            <a:t>data persistence redundancy</a:t>
          </a:r>
          <a:r>
            <a:rPr lang="en-US" sz="1300" b="0" kern="1200"/>
            <a:t> </a:t>
          </a:r>
          <a:r>
            <a:rPr lang="en-US" sz="1300" kern="1200"/>
            <a:t>and</a:t>
          </a:r>
          <a:r>
            <a:rPr lang="en-US" sz="1300" b="0" kern="1200"/>
            <a:t> validation logic</a:t>
          </a:r>
          <a:endParaRPr lang="en-US" sz="1300" kern="1200"/>
        </a:p>
      </dsp:txBody>
      <dsp:txXfrm>
        <a:off x="7874157" y="2430961"/>
        <a:ext cx="2072362"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7B7B52-F340-49F6-9AF9-054AD4995529}">
      <dsp:nvSpPr>
        <dsp:cNvPr id="0" name=""/>
        <dsp:cNvSpPr/>
      </dsp:nvSpPr>
      <dsp:spPr>
        <a:xfrm>
          <a:off x="1138979" y="1206562"/>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A613BE-CDC3-4093-B285-967121C785D5}">
      <dsp:nvSpPr>
        <dsp:cNvPr id="0" name=""/>
        <dsp:cNvSpPr/>
      </dsp:nvSpPr>
      <dsp:spPr>
        <a:xfrm>
          <a:off x="569079"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Build </a:t>
          </a:r>
          <a:r>
            <a:rPr lang="en-US" sz="1300" b="1" kern="1200"/>
            <a:t>Market News &amp; Sentiment Service</a:t>
          </a:r>
          <a:r>
            <a:rPr lang="en-US" sz="1300" kern="1200"/>
            <a:t> (API</a:t>
          </a:r>
          <a:r>
            <a:rPr lang="en-US" sz="1300" kern="1200">
              <a:latin typeface="Aptos Display" panose="02110004020202020204"/>
            </a:rPr>
            <a:t>)</a:t>
          </a:r>
          <a:endParaRPr lang="en-US" sz="1300" kern="1200"/>
        </a:p>
      </dsp:txBody>
      <dsp:txXfrm>
        <a:off x="569079" y="2430961"/>
        <a:ext cx="2072362" cy="720000"/>
      </dsp:txXfrm>
    </dsp:sp>
    <dsp:sp modelId="{89C24B5B-F320-4CA2-A445-561E1719ED32}">
      <dsp:nvSpPr>
        <dsp:cNvPr id="0" name=""/>
        <dsp:cNvSpPr/>
      </dsp:nvSpPr>
      <dsp:spPr>
        <a:xfrm>
          <a:off x="3574005" y="1206562"/>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674F96-5778-4D6D-ADF1-F60F00528B0F}">
      <dsp:nvSpPr>
        <dsp:cNvPr id="0" name=""/>
        <dsp:cNvSpPr/>
      </dsp:nvSpPr>
      <dsp:spPr>
        <a:xfrm>
          <a:off x="3004105"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0" kern="1200"/>
            <a:t>Develop </a:t>
          </a:r>
          <a:r>
            <a:rPr lang="en-US" sz="1300" b="1" kern="1200"/>
            <a:t>Alert &amp; Notification Service</a:t>
          </a:r>
          <a:r>
            <a:rPr lang="en-US" sz="1300" kern="1200"/>
            <a:t> (</a:t>
          </a:r>
          <a:r>
            <a:rPr lang="en-US" sz="1300" b="0" kern="1200"/>
            <a:t>event-driven triggers</a:t>
          </a:r>
          <a:r>
            <a:rPr lang="en-US" sz="1300" kern="1200"/>
            <a:t>)</a:t>
          </a:r>
        </a:p>
      </dsp:txBody>
      <dsp:txXfrm>
        <a:off x="3004105" y="2430961"/>
        <a:ext cx="2072362" cy="720000"/>
      </dsp:txXfrm>
    </dsp:sp>
    <dsp:sp modelId="{3989B660-9110-4995-81FC-539C381D5F64}">
      <dsp:nvSpPr>
        <dsp:cNvPr id="0" name=""/>
        <dsp:cNvSpPr/>
      </dsp:nvSpPr>
      <dsp:spPr>
        <a:xfrm>
          <a:off x="6009031" y="1206562"/>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07A4AC-3F3E-462C-AF4C-83C29C31BB4E}">
      <dsp:nvSpPr>
        <dsp:cNvPr id="0" name=""/>
        <dsp:cNvSpPr/>
      </dsp:nvSpPr>
      <dsp:spPr>
        <a:xfrm>
          <a:off x="5439131"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Integrate </a:t>
          </a:r>
          <a:r>
            <a:rPr lang="en-US" sz="1300" b="1" kern="1200"/>
            <a:t>fault tolerance, retry logic, and caching</a:t>
          </a:r>
          <a:endParaRPr lang="en-US" sz="1300" kern="1200"/>
        </a:p>
      </dsp:txBody>
      <dsp:txXfrm>
        <a:off x="5439131" y="2430961"/>
        <a:ext cx="2072362" cy="720000"/>
      </dsp:txXfrm>
    </dsp:sp>
    <dsp:sp modelId="{EA38B6AC-01E9-4FF5-82A3-E573A88BB56C}">
      <dsp:nvSpPr>
        <dsp:cNvPr id="0" name=""/>
        <dsp:cNvSpPr/>
      </dsp:nvSpPr>
      <dsp:spPr>
        <a:xfrm>
          <a:off x="8444057" y="1206562"/>
          <a:ext cx="932563" cy="932563"/>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BFCBC3-9950-48F2-A640-0D2540C42531}">
      <dsp:nvSpPr>
        <dsp:cNvPr id="0" name=""/>
        <dsp:cNvSpPr/>
      </dsp:nvSpPr>
      <dsp:spPr>
        <a:xfrm>
          <a:off x="7874157"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0" kern="1200"/>
            <a:t>Enable </a:t>
          </a:r>
          <a:r>
            <a:rPr lang="en-US" sz="1300" b="1" kern="1200"/>
            <a:t>low-latency data delivery</a:t>
          </a:r>
          <a:r>
            <a:rPr lang="en-US" sz="1300" b="0" kern="1200"/>
            <a:t> for dashboards</a:t>
          </a:r>
          <a:endParaRPr lang="en-US" sz="1300" kern="1200"/>
        </a:p>
      </dsp:txBody>
      <dsp:txXfrm>
        <a:off x="7874157" y="2430961"/>
        <a:ext cx="2072362"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89B660-9110-4995-81FC-539C381D5F64}">
      <dsp:nvSpPr>
        <dsp:cNvPr id="0" name=""/>
        <dsp:cNvSpPr/>
      </dsp:nvSpPr>
      <dsp:spPr>
        <a:xfrm>
          <a:off x="1138979" y="1206562"/>
          <a:ext cx="932563" cy="932563"/>
        </a:xfrm>
        <a:prstGeom prst="rect">
          <a:avLst/>
        </a:prstGeom>
        <a:blipFill>
          <a:blip xmlns:r="http://schemas.openxmlformats.org/officeDocument/2006/relationships" r:embed="rId1"/>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07A4AC-3F3E-462C-AF4C-83C29C31BB4E}">
      <dsp:nvSpPr>
        <dsp:cNvPr id="0" name=""/>
        <dsp:cNvSpPr/>
      </dsp:nvSpPr>
      <dsp:spPr>
        <a:xfrm>
          <a:off x="569079"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Integrate all microservices end-to-end</a:t>
          </a:r>
        </a:p>
      </dsp:txBody>
      <dsp:txXfrm>
        <a:off x="569079" y="2430961"/>
        <a:ext cx="2072362" cy="720000"/>
      </dsp:txXfrm>
    </dsp:sp>
    <dsp:sp modelId="{9725A4E8-3A6F-454C-AE36-242355DBB73F}">
      <dsp:nvSpPr>
        <dsp:cNvPr id="0" name=""/>
        <dsp:cNvSpPr/>
      </dsp:nvSpPr>
      <dsp:spPr>
        <a:xfrm>
          <a:off x="3574005" y="1206562"/>
          <a:ext cx="932563" cy="93256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445AA0-333E-4547-979D-A6CA86BC7678}">
      <dsp:nvSpPr>
        <dsp:cNvPr id="0" name=""/>
        <dsp:cNvSpPr/>
      </dsp:nvSpPr>
      <dsp:spPr>
        <a:xfrm>
          <a:off x="3004105"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Harden </a:t>
          </a:r>
          <a:r>
            <a:rPr lang="en-US" sz="1500" b="1" kern="1200"/>
            <a:t>security and authentication flows</a:t>
          </a:r>
          <a:endParaRPr lang="en-US" sz="1500" kern="1200"/>
        </a:p>
      </dsp:txBody>
      <dsp:txXfrm>
        <a:off x="3004105" y="2430961"/>
        <a:ext cx="2072362" cy="720000"/>
      </dsp:txXfrm>
    </dsp:sp>
    <dsp:sp modelId="{0C5F4C53-972A-4769-902E-6B6EDB17CBD7}">
      <dsp:nvSpPr>
        <dsp:cNvPr id="0" name=""/>
        <dsp:cNvSpPr/>
      </dsp:nvSpPr>
      <dsp:spPr>
        <a:xfrm>
          <a:off x="6009031" y="1206562"/>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934674-BF68-4DDB-B1C8-193793507FA9}">
      <dsp:nvSpPr>
        <dsp:cNvPr id="0" name=""/>
        <dsp:cNvSpPr/>
      </dsp:nvSpPr>
      <dsp:spPr>
        <a:xfrm>
          <a:off x="5439131"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Conduct </a:t>
          </a:r>
          <a:r>
            <a:rPr lang="en-US" sz="1500" b="1" kern="1200"/>
            <a:t>load testing and performance tuning</a:t>
          </a:r>
          <a:endParaRPr lang="en-US" sz="1500" kern="1200"/>
        </a:p>
      </dsp:txBody>
      <dsp:txXfrm>
        <a:off x="5439131" y="2430961"/>
        <a:ext cx="2072362" cy="720000"/>
      </dsp:txXfrm>
    </dsp:sp>
    <dsp:sp modelId="{EA38B6AC-01E9-4FF5-82A3-E573A88BB56C}">
      <dsp:nvSpPr>
        <dsp:cNvPr id="0" name=""/>
        <dsp:cNvSpPr/>
      </dsp:nvSpPr>
      <dsp:spPr>
        <a:xfrm>
          <a:off x="8444057" y="1206562"/>
          <a:ext cx="932563" cy="932563"/>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BFCBC3-9950-48F2-A640-0D2540C42531}">
      <dsp:nvSpPr>
        <dsp:cNvPr id="0" name=""/>
        <dsp:cNvSpPr/>
      </dsp:nvSpPr>
      <dsp:spPr>
        <a:xfrm>
          <a:off x="7874157" y="2430961"/>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kern="1200"/>
            <a:t>Deploy MVP and document APIs for next phase</a:t>
          </a:r>
          <a:endParaRPr lang="en-US" sz="1500" kern="1200"/>
        </a:p>
      </dsp:txBody>
      <dsp:txXfrm>
        <a:off x="7874157" y="2430961"/>
        <a:ext cx="2072362"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0928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99387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90417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96698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35993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31629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48651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38753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34280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86455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70692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764DE79-268F-4C1A-8933-263129D2AF90}" type="datetimeFigureOut">
              <a:rPr lang="en-US" dirty="0"/>
              <a:t>11/13/2025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915656395"/>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7.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Digital financial graph">
            <a:extLst>
              <a:ext uri="{FF2B5EF4-FFF2-40B4-BE49-F238E27FC236}">
                <a16:creationId xmlns:a16="http://schemas.microsoft.com/office/drawing/2014/main" id="{982F7B6C-9B5C-40DC-BF95-784FBDF48E2F}"/>
              </a:ext>
            </a:extLst>
          </p:cNvPr>
          <p:cNvPicPr>
            <a:picLocks noChangeAspect="1"/>
          </p:cNvPicPr>
          <p:nvPr/>
        </p:nvPicPr>
        <p:blipFill>
          <a:blip r:embed="rId2">
            <a:alphaModFix amt="50000"/>
          </a:blip>
          <a:srcRect r="-2" b="-2"/>
          <a:stretch>
            <a:fillRect/>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US">
                <a:solidFill>
                  <a:srgbClr val="FFFFFF"/>
                </a:solidFill>
              </a:rPr>
              <a:t>Stock Research Application Project Progress Report #</a:t>
            </a:r>
            <a:r>
              <a:rPr lang="en-US" altLang="zh-CN">
                <a:solidFill>
                  <a:srgbClr val="FFFFFF"/>
                </a:solidFill>
              </a:rPr>
              <a:t>2</a:t>
            </a:r>
            <a:endParaRPr lang="en-US">
              <a:solidFill>
                <a:srgbClr val="FFFFFF"/>
              </a:solidFill>
            </a:endParaRPr>
          </a:p>
        </p:txBody>
      </p:sp>
      <p:sp>
        <p:nvSpPr>
          <p:cNvPr id="3" name="Subtitle 2"/>
          <p:cNvSpPr>
            <a:spLocks noGrp="1"/>
          </p:cNvSpPr>
          <p:nvPr>
            <p:ph type="subTitle" idx="1"/>
          </p:nvPr>
        </p:nvSpPr>
        <p:spPr>
          <a:xfrm>
            <a:off x="1524000" y="4159404"/>
            <a:ext cx="9144000" cy="1098395"/>
          </a:xfrm>
        </p:spPr>
        <p:txBody>
          <a:bodyPr vert="horz" lIns="91440" tIns="45720" rIns="91440" bIns="45720" rtlCol="0">
            <a:normAutofit/>
          </a:bodyPr>
          <a:lstStyle/>
          <a:p>
            <a:r>
              <a:rPr lang="en-US">
                <a:solidFill>
                  <a:srgbClr val="FFFFFF"/>
                </a:solidFill>
              </a:rPr>
              <a:t>Group 5</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B8802E-FF81-016A-D749-2DD27B4D579A}"/>
              </a:ext>
            </a:extLst>
          </p:cNvPr>
          <p:cNvSpPr>
            <a:spLocks noGrp="1"/>
          </p:cNvSpPr>
          <p:nvPr>
            <p:ph type="title"/>
          </p:nvPr>
        </p:nvSpPr>
        <p:spPr>
          <a:xfrm>
            <a:off x="630936" y="640080"/>
            <a:ext cx="4818888" cy="1481328"/>
          </a:xfrm>
        </p:spPr>
        <p:txBody>
          <a:bodyPr anchor="b">
            <a:normAutofit/>
          </a:bodyPr>
          <a:lstStyle/>
          <a:p>
            <a:r>
              <a:rPr lang="en-US" sz="5000"/>
              <a:t>Agenda</a:t>
            </a:r>
          </a:p>
        </p:txBody>
      </p:sp>
      <p:sp>
        <p:nvSpPr>
          <p:cNvPr id="11"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5A5755D-75CD-55A7-42A4-3D797F6C127F}"/>
              </a:ext>
            </a:extLst>
          </p:cNvPr>
          <p:cNvSpPr>
            <a:spLocks noGrp="1"/>
          </p:cNvSpPr>
          <p:nvPr>
            <p:ph idx="1"/>
          </p:nvPr>
        </p:nvSpPr>
        <p:spPr>
          <a:xfrm>
            <a:off x="630936" y="2660904"/>
            <a:ext cx="4818888" cy="3547872"/>
          </a:xfrm>
        </p:spPr>
        <p:txBody>
          <a:bodyPr vert="horz" lIns="91440" tIns="45720" rIns="91440" bIns="45720" rtlCol="0" anchor="t">
            <a:normAutofit/>
          </a:bodyPr>
          <a:lstStyle/>
          <a:p>
            <a:r>
              <a:rPr lang="en-US" sz="2200"/>
              <a:t>System Overview</a:t>
            </a:r>
          </a:p>
          <a:p>
            <a:r>
              <a:rPr lang="en-US" sz="2200"/>
              <a:t>Structural Views</a:t>
            </a:r>
          </a:p>
          <a:p>
            <a:r>
              <a:rPr lang="en-US" sz="2200"/>
              <a:t>Quality Views</a:t>
            </a:r>
          </a:p>
          <a:p>
            <a:r>
              <a:rPr lang="en-US" sz="2200"/>
              <a:t>Combined Views</a:t>
            </a:r>
          </a:p>
          <a:p>
            <a:r>
              <a:rPr lang="en-US" sz="2200"/>
              <a:t>Conclusions and Next Steps</a:t>
            </a:r>
          </a:p>
        </p:txBody>
      </p:sp>
      <p:pic>
        <p:nvPicPr>
          <p:cNvPr id="6" name="Picture 5" descr="Agenda - Free files and folders icons">
            <a:extLst>
              <a:ext uri="{FF2B5EF4-FFF2-40B4-BE49-F238E27FC236}">
                <a16:creationId xmlns:a16="http://schemas.microsoft.com/office/drawing/2014/main" id="{CBD54A82-33F5-675F-2420-56C6E5A231C8}"/>
              </a:ext>
            </a:extLst>
          </p:cNvPr>
          <p:cNvPicPr>
            <a:picLocks noChangeAspect="1"/>
          </p:cNvPicPr>
          <p:nvPr/>
        </p:nvPicPr>
        <p:blipFill>
          <a:blip r:embed="rId2"/>
          <a:stretch>
            <a:fillRect/>
          </a:stretch>
        </p:blipFill>
        <p:spPr>
          <a:xfrm>
            <a:off x="6821608" y="948457"/>
            <a:ext cx="4716672" cy="4687917"/>
          </a:xfrm>
          <a:prstGeom prst="rect">
            <a:avLst/>
          </a:prstGeom>
        </p:spPr>
      </p:pic>
    </p:spTree>
    <p:extLst>
      <p:ext uri="{BB962C8B-B14F-4D97-AF65-F5344CB8AC3E}">
        <p14:creationId xmlns:p14="http://schemas.microsoft.com/office/powerpoint/2010/main" val="3636206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DDC9E7-FEE7-88CF-C69F-C55E975F945A}"/>
              </a:ext>
            </a:extLst>
          </p:cNvPr>
          <p:cNvSpPr>
            <a:spLocks noGrp="1"/>
          </p:cNvSpPr>
          <p:nvPr>
            <p:ph type="title"/>
          </p:nvPr>
        </p:nvSpPr>
        <p:spPr>
          <a:xfrm>
            <a:off x="572493" y="238539"/>
            <a:ext cx="11018520" cy="1434415"/>
          </a:xfrm>
        </p:spPr>
        <p:txBody>
          <a:bodyPr anchor="b">
            <a:normAutofit/>
          </a:bodyPr>
          <a:lstStyle/>
          <a:p>
            <a:r>
              <a:rPr lang="en-US" sz="5000"/>
              <a:t>System Responsibilities and Capabilities</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0D16EC0-2FC2-4522-1D3A-2F9A3951B51A}"/>
              </a:ext>
            </a:extLst>
          </p:cNvPr>
          <p:cNvSpPr>
            <a:spLocks noGrp="1"/>
          </p:cNvSpPr>
          <p:nvPr>
            <p:ph idx="1"/>
          </p:nvPr>
        </p:nvSpPr>
        <p:spPr>
          <a:xfrm>
            <a:off x="572493" y="2085693"/>
            <a:ext cx="6713552" cy="3817248"/>
          </a:xfrm>
        </p:spPr>
        <p:txBody>
          <a:bodyPr vert="horz" lIns="91440" tIns="45720" rIns="91440" bIns="45720" rtlCol="0" anchor="t">
            <a:normAutofit lnSpcReduction="10000"/>
          </a:bodyPr>
          <a:lstStyle/>
          <a:p>
            <a:pPr>
              <a:buNone/>
            </a:pPr>
            <a:r>
              <a:rPr lang="en-US" sz="2200">
                <a:ea typeface="+mn-lt"/>
                <a:cs typeface="+mn-lt"/>
              </a:rPr>
              <a:t>The system supports five major capability domains:</a:t>
            </a:r>
            <a:endParaRPr lang="en-US" sz="2200"/>
          </a:p>
          <a:p>
            <a:pPr>
              <a:buFont typeface="Arial"/>
              <a:buChar char="•"/>
            </a:pPr>
            <a:r>
              <a:rPr lang="en-US" sz="2200" b="1">
                <a:ea typeface="+mn-lt"/>
                <a:cs typeface="+mn-lt"/>
              </a:rPr>
              <a:t>User Management:</a:t>
            </a:r>
            <a:r>
              <a:rPr lang="en-US" sz="2200">
                <a:ea typeface="+mn-lt"/>
                <a:cs typeface="+mn-lt"/>
              </a:rPr>
              <a:t> Securely authentication, personal data storage, and portfolio ownership.</a:t>
            </a:r>
            <a:endParaRPr lang="en-US" sz="2200"/>
          </a:p>
          <a:p>
            <a:pPr>
              <a:buFont typeface="Arial"/>
              <a:buChar char="•"/>
            </a:pPr>
            <a:r>
              <a:rPr lang="en-US" sz="2200" b="1">
                <a:ea typeface="+mn-lt"/>
                <a:cs typeface="+mn-lt"/>
              </a:rPr>
              <a:t>Analytical Insights:</a:t>
            </a:r>
            <a:r>
              <a:rPr lang="en-US" sz="2200">
                <a:ea typeface="+mn-lt"/>
                <a:cs typeface="+mn-lt"/>
              </a:rPr>
              <a:t> Technical indicator computation and stock trend evaluation.</a:t>
            </a:r>
            <a:endParaRPr lang="en-US" sz="2200"/>
          </a:p>
          <a:p>
            <a:pPr>
              <a:buFont typeface="Arial"/>
              <a:buChar char="•"/>
            </a:pPr>
            <a:r>
              <a:rPr lang="en-US" sz="2200" b="1">
                <a:ea typeface="+mn-lt"/>
                <a:cs typeface="+mn-lt"/>
              </a:rPr>
              <a:t>Market Intelligence:</a:t>
            </a:r>
            <a:r>
              <a:rPr lang="en-US" sz="2200">
                <a:ea typeface="+mn-lt"/>
                <a:cs typeface="+mn-lt"/>
              </a:rPr>
              <a:t> Aggregation of financial articles, social feeds, and sentiment scoring.</a:t>
            </a:r>
            <a:endParaRPr lang="en-US" sz="2200"/>
          </a:p>
          <a:p>
            <a:pPr>
              <a:buFont typeface="Arial"/>
              <a:buChar char="•"/>
            </a:pPr>
            <a:r>
              <a:rPr lang="en-US" sz="2200" b="1">
                <a:ea typeface="+mn-lt"/>
                <a:cs typeface="+mn-lt"/>
              </a:rPr>
              <a:t>Portfolio Tracking:</a:t>
            </a:r>
            <a:r>
              <a:rPr lang="en-US" sz="2200">
                <a:ea typeface="+mn-lt"/>
                <a:cs typeface="+mn-lt"/>
              </a:rPr>
              <a:t> Performance dashboards, position summaries, and profit/loss calculations.</a:t>
            </a:r>
          </a:p>
          <a:p>
            <a:pPr>
              <a:buFont typeface="Arial"/>
              <a:buChar char="•"/>
            </a:pPr>
            <a:r>
              <a:rPr lang="en-US" sz="2200" b="1">
                <a:ea typeface="+mn-lt"/>
                <a:cs typeface="+mn-lt"/>
              </a:rPr>
              <a:t>Real-Time Monitoring:</a:t>
            </a:r>
            <a:r>
              <a:rPr lang="en-US" sz="2200">
                <a:ea typeface="+mn-lt"/>
                <a:cs typeface="+mn-lt"/>
              </a:rPr>
              <a:t> Automated alerts triggered by stock movements and thresholds.</a:t>
            </a:r>
            <a:endParaRPr lang="en-US" sz="2200"/>
          </a:p>
        </p:txBody>
      </p:sp>
      <p:pic>
        <p:nvPicPr>
          <p:cNvPr id="4" name="Picture 3" descr="Responsibility - Free people icons">
            <a:extLst>
              <a:ext uri="{FF2B5EF4-FFF2-40B4-BE49-F238E27FC236}">
                <a16:creationId xmlns:a16="http://schemas.microsoft.com/office/drawing/2014/main" id="{781436CA-B654-ED7B-9DC3-0D7B6186EF7E}"/>
              </a:ext>
            </a:extLst>
          </p:cNvPr>
          <p:cNvPicPr>
            <a:picLocks noChangeAspect="1"/>
          </p:cNvPicPr>
          <p:nvPr/>
        </p:nvPicPr>
        <p:blipFill>
          <a:blip r:embed="rId2"/>
          <a:srcRect l="2964" r="828"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516461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0AB2F-5363-066F-98F0-23767A9B1C27}"/>
            </a:ext>
          </a:extLst>
        </p:cNvPr>
        <p:cNvGrpSpPr/>
        <p:nvPr/>
      </p:nvGrpSpPr>
      <p:grpSpPr>
        <a:xfrm>
          <a:off x="0" y="0"/>
          <a:ext cx="0" cy="0"/>
          <a:chOff x="0" y="0"/>
          <a:chExt cx="0" cy="0"/>
        </a:xfrm>
      </p:grpSpPr>
      <p:pic>
        <p:nvPicPr>
          <p:cNvPr id="4" name="Picture 3" descr="A diagram of a stock research application&#10;&#10;AI-generated content may be incorrect.">
            <a:extLst>
              <a:ext uri="{FF2B5EF4-FFF2-40B4-BE49-F238E27FC236}">
                <a16:creationId xmlns:a16="http://schemas.microsoft.com/office/drawing/2014/main" id="{5C29CB64-0090-F39F-C52A-DDF0B379821E}"/>
              </a:ext>
            </a:extLst>
          </p:cNvPr>
          <p:cNvPicPr>
            <a:picLocks noChangeAspect="1"/>
          </p:cNvPicPr>
          <p:nvPr/>
        </p:nvPicPr>
        <p:blipFill>
          <a:blip r:embed="rId2"/>
          <a:stretch>
            <a:fillRect/>
          </a:stretch>
        </p:blipFill>
        <p:spPr>
          <a:xfrm>
            <a:off x="299498" y="556584"/>
            <a:ext cx="11593003" cy="5572304"/>
          </a:xfrm>
          <a:prstGeom prst="rect">
            <a:avLst/>
          </a:prstGeom>
        </p:spPr>
      </p:pic>
    </p:spTree>
    <p:extLst>
      <p:ext uri="{BB962C8B-B14F-4D97-AF65-F5344CB8AC3E}">
        <p14:creationId xmlns:p14="http://schemas.microsoft.com/office/powerpoint/2010/main" val="1084718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22C6B2-56B8-3EEF-8B31-54880F5C9D7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743BB6-B89F-A099-5CDB-E34A5A59526C}"/>
              </a:ext>
            </a:extLst>
          </p:cNvPr>
          <p:cNvSpPr>
            <a:spLocks noGrp="1"/>
          </p:cNvSpPr>
          <p:nvPr>
            <p:ph type="title"/>
          </p:nvPr>
        </p:nvSpPr>
        <p:spPr>
          <a:xfrm>
            <a:off x="572493" y="248064"/>
            <a:ext cx="10980420" cy="1415365"/>
          </a:xfrm>
        </p:spPr>
        <p:txBody>
          <a:bodyPr anchor="b">
            <a:normAutofit/>
          </a:bodyPr>
          <a:lstStyle/>
          <a:p>
            <a:r>
              <a:rPr lang="en-US" sz="5400"/>
              <a:t>Module View - Layered</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0FDB40D-4EBB-EFE0-9362-B25DFA132AA5}"/>
              </a:ext>
            </a:extLst>
          </p:cNvPr>
          <p:cNvSpPr>
            <a:spLocks noGrp="1"/>
          </p:cNvSpPr>
          <p:nvPr>
            <p:ph idx="1"/>
          </p:nvPr>
        </p:nvSpPr>
        <p:spPr>
          <a:xfrm>
            <a:off x="572493" y="2071316"/>
            <a:ext cx="6713552" cy="4119172"/>
          </a:xfrm>
        </p:spPr>
        <p:txBody>
          <a:bodyPr vert="horz" lIns="91440" tIns="45720" rIns="91440" bIns="45720" rtlCol="0" anchor="t">
            <a:normAutofit fontScale="92500" lnSpcReduction="10000"/>
          </a:bodyPr>
          <a:lstStyle/>
          <a:p>
            <a:pPr>
              <a:buNone/>
            </a:pPr>
            <a:r>
              <a:rPr lang="en-US" b="1"/>
              <a:t>Four-Layer Architecture</a:t>
            </a:r>
            <a:endParaRPr lang="en-US"/>
          </a:p>
          <a:p>
            <a:pPr>
              <a:buFont typeface="Arial"/>
              <a:buChar char="•"/>
            </a:pPr>
            <a:r>
              <a:rPr lang="en-US" sz="2200" b="1">
                <a:ea typeface="+mn-lt"/>
                <a:cs typeface="+mn-lt"/>
              </a:rPr>
              <a:t>Application Pages Layer</a:t>
            </a:r>
            <a:br>
              <a:rPr lang="en-US" sz="2200" b="1">
                <a:ea typeface="+mn-lt"/>
                <a:cs typeface="+mn-lt"/>
              </a:rPr>
            </a:br>
            <a:r>
              <a:rPr lang="en-US" sz="2200">
                <a:ea typeface="+mn-lt"/>
                <a:cs typeface="+mn-lt"/>
              </a:rPr>
              <a:t>User-facing interface that collects inputs and renders results.</a:t>
            </a:r>
            <a:endParaRPr lang="en-US"/>
          </a:p>
          <a:p>
            <a:pPr>
              <a:buFont typeface="Arial"/>
              <a:buChar char="•"/>
            </a:pPr>
            <a:r>
              <a:rPr lang="en-US" sz="2200" b="1">
                <a:ea typeface="+mn-lt"/>
                <a:cs typeface="+mn-lt"/>
              </a:rPr>
              <a:t>Application Services Layer</a:t>
            </a:r>
            <a:br>
              <a:rPr lang="en-US" sz="2200" b="1">
                <a:ea typeface="+mn-lt"/>
                <a:cs typeface="+mn-lt"/>
              </a:rPr>
            </a:br>
            <a:r>
              <a:rPr lang="en-US" sz="2200">
                <a:ea typeface="+mn-lt"/>
                <a:cs typeface="+mn-lt"/>
              </a:rPr>
              <a:t>Backend orchestration, authentication, and workflow coordination.</a:t>
            </a:r>
            <a:endParaRPr lang="en-US"/>
          </a:p>
          <a:p>
            <a:pPr>
              <a:buFont typeface="Arial"/>
              <a:buChar char="•"/>
            </a:pPr>
            <a:r>
              <a:rPr lang="en-US" sz="2200" b="1">
                <a:ea typeface="+mn-lt"/>
                <a:cs typeface="+mn-lt"/>
              </a:rPr>
              <a:t>Domain / Analytics Layer</a:t>
            </a:r>
            <a:br>
              <a:rPr lang="en-US" sz="2200" b="1">
                <a:ea typeface="+mn-lt"/>
                <a:cs typeface="+mn-lt"/>
              </a:rPr>
            </a:br>
            <a:r>
              <a:rPr lang="en-US" sz="2200">
                <a:ea typeface="+mn-lt"/>
                <a:cs typeface="+mn-lt"/>
              </a:rPr>
              <a:t>Computational logic including indicators, sentiment scoring, ranking, and portfolio metrics.</a:t>
            </a:r>
            <a:endParaRPr lang="en-US"/>
          </a:p>
          <a:p>
            <a:pPr>
              <a:buFont typeface="Arial"/>
              <a:buChar char="•"/>
            </a:pPr>
            <a:r>
              <a:rPr lang="en-US" sz="2200" b="1">
                <a:ea typeface="+mn-lt"/>
                <a:cs typeface="+mn-lt"/>
              </a:rPr>
              <a:t>Data Management Layer</a:t>
            </a:r>
            <a:br>
              <a:rPr lang="en-US" sz="2200" b="1">
                <a:ea typeface="+mn-lt"/>
                <a:cs typeface="+mn-lt"/>
              </a:rPr>
            </a:br>
            <a:r>
              <a:rPr lang="en-US" sz="2200">
                <a:ea typeface="+mn-lt"/>
                <a:cs typeface="+mn-lt"/>
              </a:rPr>
              <a:t>Persistent storage and external data integrations (databases, APIs, event streams).</a:t>
            </a:r>
            <a:endParaRPr lang="en-US"/>
          </a:p>
          <a:p>
            <a:pPr>
              <a:buNone/>
            </a:pPr>
            <a:endParaRPr lang="en-US" sz="2200"/>
          </a:p>
        </p:txBody>
      </p:sp>
      <p:pic>
        <p:nvPicPr>
          <p:cNvPr id="4" name="Picture 3" descr="A blue and yellow squares&#10;&#10;AI-generated content may be incorrect.">
            <a:extLst>
              <a:ext uri="{FF2B5EF4-FFF2-40B4-BE49-F238E27FC236}">
                <a16:creationId xmlns:a16="http://schemas.microsoft.com/office/drawing/2014/main" id="{CFA92B0A-5668-5796-6274-C064F831E45B}"/>
              </a:ext>
            </a:extLst>
          </p:cNvPr>
          <p:cNvPicPr>
            <a:picLocks noChangeAspect="1"/>
          </p:cNvPicPr>
          <p:nvPr/>
        </p:nvPicPr>
        <p:blipFill>
          <a:blip r:embed="rId2"/>
          <a:srcRect l="1965" r="1830"/>
          <a:stretch>
            <a:fillRect/>
          </a:stretch>
        </p:blipFill>
        <p:spPr>
          <a:xfrm>
            <a:off x="8006337" y="2525297"/>
            <a:ext cx="3135932" cy="3205116"/>
          </a:xfrm>
          <a:prstGeom prst="rect">
            <a:avLst/>
          </a:prstGeom>
        </p:spPr>
      </p:pic>
    </p:spTree>
    <p:extLst>
      <p:ext uri="{BB962C8B-B14F-4D97-AF65-F5344CB8AC3E}">
        <p14:creationId xmlns:p14="http://schemas.microsoft.com/office/powerpoint/2010/main" val="2976894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894C9C-994C-DC9C-EB21-8C0CBEC42A0F}"/>
            </a:ext>
          </a:extLst>
        </p:cNvPr>
        <p:cNvGrpSpPr/>
        <p:nvPr/>
      </p:nvGrpSpPr>
      <p:grpSpPr>
        <a:xfrm>
          <a:off x="0" y="0"/>
          <a:ext cx="0" cy="0"/>
          <a:chOff x="0" y="0"/>
          <a:chExt cx="0" cy="0"/>
        </a:xfrm>
      </p:grpSpPr>
      <p:pic>
        <p:nvPicPr>
          <p:cNvPr id="2" name="Picture 1" descr="A diagram of a company&#10;&#10;AI-generated content may be incorrect.">
            <a:extLst>
              <a:ext uri="{FF2B5EF4-FFF2-40B4-BE49-F238E27FC236}">
                <a16:creationId xmlns:a16="http://schemas.microsoft.com/office/drawing/2014/main" id="{E1AE8EB7-AF78-39D8-630E-600BD51597CF}"/>
              </a:ext>
            </a:extLst>
          </p:cNvPr>
          <p:cNvPicPr>
            <a:picLocks noChangeAspect="1"/>
          </p:cNvPicPr>
          <p:nvPr/>
        </p:nvPicPr>
        <p:blipFill>
          <a:blip r:embed="rId2"/>
          <a:stretch>
            <a:fillRect/>
          </a:stretch>
        </p:blipFill>
        <p:spPr>
          <a:xfrm>
            <a:off x="301925" y="364559"/>
            <a:ext cx="11573774" cy="6114505"/>
          </a:xfrm>
          <a:prstGeom prst="rect">
            <a:avLst/>
          </a:prstGeom>
        </p:spPr>
      </p:pic>
    </p:spTree>
    <p:extLst>
      <p:ext uri="{BB962C8B-B14F-4D97-AF65-F5344CB8AC3E}">
        <p14:creationId xmlns:p14="http://schemas.microsoft.com/office/powerpoint/2010/main" val="3421826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A5CDDE-D535-C127-1AAB-DC265160E6DC}"/>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itle 1">
            <a:extLst>
              <a:ext uri="{FF2B5EF4-FFF2-40B4-BE49-F238E27FC236}">
                <a16:creationId xmlns:a16="http://schemas.microsoft.com/office/drawing/2014/main" id="{F8D083B7-4831-C994-E6DB-CD3EE212E6AA}"/>
              </a:ext>
            </a:extLst>
          </p:cNvPr>
          <p:cNvSpPr>
            <a:spLocks noGrp="1"/>
          </p:cNvSpPr>
          <p:nvPr>
            <p:ph type="title"/>
          </p:nvPr>
        </p:nvSpPr>
        <p:spPr>
          <a:xfrm>
            <a:off x="686834" y="591344"/>
            <a:ext cx="3200400" cy="5513733"/>
          </a:xfrm>
        </p:spPr>
        <p:txBody>
          <a:bodyPr>
            <a:normAutofit/>
          </a:bodyPr>
          <a:lstStyle/>
          <a:p>
            <a:r>
              <a:rPr lang="en-US" sz="3700">
                <a:solidFill>
                  <a:srgbClr val="FFFFFF"/>
                </a:solidFill>
              </a:rPr>
              <a:t>Rationale</a:t>
            </a:r>
            <a:br>
              <a:rPr lang="en-US" sz="3700">
                <a:solidFill>
                  <a:srgbClr val="FFFFFF"/>
                </a:solidFill>
              </a:rPr>
            </a:br>
            <a:r>
              <a:rPr lang="en-US" sz="3700">
                <a:solidFill>
                  <a:srgbClr val="FFFFFF"/>
                </a:solidFill>
              </a:rPr>
              <a:t>and</a:t>
            </a:r>
            <a:br>
              <a:rPr lang="en-US" sz="3700">
                <a:solidFill>
                  <a:srgbClr val="FFFFFF"/>
                </a:solidFill>
              </a:rPr>
            </a:br>
            <a:r>
              <a:rPr lang="en-US" sz="3700">
                <a:solidFill>
                  <a:srgbClr val="FFFFFF"/>
                </a:solidFill>
              </a:rPr>
              <a:t>Benefits​</a:t>
            </a:r>
          </a:p>
        </p:txBody>
      </p:sp>
      <p:sp>
        <p:nvSpPr>
          <p:cNvPr id="36" name="Arc 3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E265650-705B-AB54-4249-14BB32BEEA48}"/>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0" indent="0">
              <a:buNone/>
            </a:pPr>
            <a:endParaRPr lang="en-US" sz="1300" b="1"/>
          </a:p>
          <a:p>
            <a:pPr>
              <a:buNone/>
            </a:pPr>
            <a:r>
              <a:rPr lang="en-US" sz="1300" b="1"/>
              <a:t>Why a Layered Architecture?</a:t>
            </a:r>
            <a:endParaRPr lang="en-US" sz="1300"/>
          </a:p>
          <a:p>
            <a:pPr>
              <a:buFont typeface="Arial"/>
              <a:buChar char="•"/>
            </a:pPr>
            <a:r>
              <a:rPr lang="en-US" sz="1300" b="1">
                <a:ea typeface="+mn-lt"/>
                <a:cs typeface="+mn-lt"/>
              </a:rPr>
              <a:t>Modifiability:</a:t>
            </a:r>
            <a:r>
              <a:rPr lang="en-US" sz="1300">
                <a:ea typeface="+mn-lt"/>
                <a:cs typeface="+mn-lt"/>
              </a:rPr>
              <a:t> UI, services, analytics, and data can evolve independently.</a:t>
            </a:r>
            <a:endParaRPr lang="en-US" sz="1300"/>
          </a:p>
          <a:p>
            <a:pPr>
              <a:buFont typeface="Arial"/>
              <a:buChar char="•"/>
            </a:pPr>
            <a:r>
              <a:rPr lang="en-US" sz="1300" b="1">
                <a:ea typeface="+mn-lt"/>
                <a:cs typeface="+mn-lt"/>
              </a:rPr>
              <a:t>Separation of concerns:</a:t>
            </a:r>
            <a:r>
              <a:rPr lang="en-US" sz="1300">
                <a:ea typeface="+mn-lt"/>
                <a:cs typeface="+mn-lt"/>
              </a:rPr>
              <a:t> Each layer handles a distinct responsibility.</a:t>
            </a:r>
            <a:endParaRPr lang="en-US" sz="1300"/>
          </a:p>
          <a:p>
            <a:pPr>
              <a:buFont typeface="Arial"/>
              <a:buChar char="•"/>
            </a:pPr>
            <a:r>
              <a:rPr lang="en-US" sz="1300" b="1">
                <a:ea typeface="+mn-lt"/>
                <a:cs typeface="+mn-lt"/>
              </a:rPr>
              <a:t>Reusability:</a:t>
            </a:r>
            <a:r>
              <a:rPr lang="en-US" sz="1300">
                <a:ea typeface="+mn-lt"/>
                <a:cs typeface="+mn-lt"/>
              </a:rPr>
              <a:t> Analytics logic is shared across multiple services.</a:t>
            </a:r>
            <a:endParaRPr lang="en-US" sz="1300"/>
          </a:p>
          <a:p>
            <a:pPr>
              <a:buFont typeface="Arial"/>
              <a:buChar char="•"/>
            </a:pPr>
            <a:r>
              <a:rPr lang="en-US" sz="1300" b="1">
                <a:ea typeface="+mn-lt"/>
                <a:cs typeface="+mn-lt"/>
              </a:rPr>
              <a:t>Scalability:</a:t>
            </a:r>
            <a:r>
              <a:rPr lang="en-US" sz="1300">
                <a:ea typeface="+mn-lt"/>
                <a:cs typeface="+mn-lt"/>
              </a:rPr>
              <a:t> Services and data sources scale without UI changes.</a:t>
            </a:r>
            <a:endParaRPr lang="en-US" sz="1300"/>
          </a:p>
          <a:p>
            <a:pPr>
              <a:buFont typeface="Arial"/>
              <a:buChar char="•"/>
            </a:pPr>
            <a:r>
              <a:rPr lang="en-US" sz="1300" b="1">
                <a:ea typeface="+mn-lt"/>
                <a:cs typeface="+mn-lt"/>
              </a:rPr>
              <a:t>Maintainability:</a:t>
            </a:r>
            <a:r>
              <a:rPr lang="en-US" sz="1300">
                <a:ea typeface="+mn-lt"/>
                <a:cs typeface="+mn-lt"/>
              </a:rPr>
              <a:t> Clear module boundaries simplify debugging and extensions.</a:t>
            </a:r>
            <a:endParaRPr lang="en-US" sz="1300"/>
          </a:p>
          <a:p>
            <a:pPr marL="0" indent="0">
              <a:buNone/>
            </a:pPr>
            <a:endParaRPr lang="en-US" sz="1300" b="1"/>
          </a:p>
          <a:p>
            <a:pPr marL="0" indent="0">
              <a:buNone/>
            </a:pPr>
            <a:r>
              <a:rPr lang="en-US" sz="1300" b="1"/>
              <a:t>Dependency Rules</a:t>
            </a:r>
            <a:endParaRPr lang="en-US" sz="1300"/>
          </a:p>
          <a:p>
            <a:pPr>
              <a:buNone/>
            </a:pPr>
            <a:r>
              <a:rPr lang="en-US" sz="1300" b="1"/>
              <a:t>Allowed</a:t>
            </a:r>
            <a:endParaRPr lang="en-US" sz="1300"/>
          </a:p>
          <a:p>
            <a:r>
              <a:rPr lang="en-US" sz="1300">
                <a:ea typeface="+mn-lt"/>
                <a:cs typeface="+mn-lt"/>
              </a:rPr>
              <a:t>Pages → Services</a:t>
            </a:r>
            <a:endParaRPr lang="en-US" sz="1300"/>
          </a:p>
          <a:p>
            <a:r>
              <a:rPr lang="en-US" sz="1300">
                <a:ea typeface="+mn-lt"/>
                <a:cs typeface="+mn-lt"/>
              </a:rPr>
              <a:t>Services → Analytics</a:t>
            </a:r>
            <a:endParaRPr lang="en-US" sz="1300"/>
          </a:p>
          <a:p>
            <a:r>
              <a:rPr lang="en-US" sz="1300">
                <a:ea typeface="+mn-lt"/>
                <a:cs typeface="+mn-lt"/>
              </a:rPr>
              <a:t>Analytics → Data</a:t>
            </a:r>
            <a:endParaRPr lang="en-US" sz="1300"/>
          </a:p>
          <a:p>
            <a:r>
              <a:rPr lang="en-US" sz="1300">
                <a:ea typeface="+mn-lt"/>
                <a:cs typeface="+mn-lt"/>
              </a:rPr>
              <a:t>Data → returns only (dashed)</a:t>
            </a:r>
            <a:endParaRPr lang="en-US" sz="1300"/>
          </a:p>
          <a:p>
            <a:pPr marL="0" indent="0">
              <a:buNone/>
            </a:pPr>
            <a:r>
              <a:rPr lang="en-US" sz="1300" b="1"/>
              <a:t>Not Allowed</a:t>
            </a:r>
            <a:endParaRPr lang="en-US" sz="1300"/>
          </a:p>
          <a:p>
            <a:r>
              <a:rPr lang="en-US" sz="1300">
                <a:ea typeface="+mn-lt"/>
                <a:cs typeface="+mn-lt"/>
              </a:rPr>
              <a:t>UI accessing data directly</a:t>
            </a:r>
            <a:endParaRPr lang="en-US" sz="1300"/>
          </a:p>
          <a:p>
            <a:r>
              <a:rPr lang="en-US" sz="1300">
                <a:ea typeface="+mn-lt"/>
                <a:cs typeface="+mn-lt"/>
              </a:rPr>
              <a:t>Analytics calling UI or services</a:t>
            </a:r>
            <a:endParaRPr lang="en-US" sz="1300"/>
          </a:p>
          <a:p>
            <a:r>
              <a:rPr lang="en-US" sz="1300">
                <a:ea typeface="+mn-lt"/>
                <a:cs typeface="+mn-lt"/>
              </a:rPr>
              <a:t>Cross-layer circular dependencies</a:t>
            </a:r>
            <a:endParaRPr lang="en-US" sz="1300"/>
          </a:p>
          <a:p>
            <a:pPr>
              <a:buFont typeface="Arial,Sans-Serif" panose="020B0604020202020204" pitchFamily="34" charset="0"/>
              <a:buChar char="•"/>
            </a:pPr>
            <a:endParaRPr lang="en-US" sz="1300"/>
          </a:p>
          <a:p>
            <a:pPr marL="0" indent="0">
              <a:buNone/>
            </a:pPr>
            <a:endParaRPr lang="en-US" sz="1300" b="1"/>
          </a:p>
        </p:txBody>
      </p:sp>
    </p:spTree>
    <p:extLst>
      <p:ext uri="{BB962C8B-B14F-4D97-AF65-F5344CB8AC3E}">
        <p14:creationId xmlns:p14="http://schemas.microsoft.com/office/powerpoint/2010/main" val="2488436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4BFA13-F7E9-3478-F38E-286D5A9D6071}"/>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80CF6A-7E8B-942A-E9FB-9C6629F3A0DA}"/>
              </a:ext>
            </a:extLst>
          </p:cNvPr>
          <p:cNvSpPr>
            <a:spLocks noGrp="1"/>
          </p:cNvSpPr>
          <p:nvPr>
            <p:ph type="title"/>
          </p:nvPr>
        </p:nvSpPr>
        <p:spPr>
          <a:xfrm>
            <a:off x="572493" y="238539"/>
            <a:ext cx="11018520" cy="1434415"/>
          </a:xfrm>
        </p:spPr>
        <p:txBody>
          <a:bodyPr anchor="b">
            <a:normAutofit/>
          </a:bodyPr>
          <a:lstStyle/>
          <a:p>
            <a:r>
              <a:rPr lang="en-US" sz="5400"/>
              <a:t>Component and Connector View</a:t>
            </a:r>
          </a:p>
        </p:txBody>
      </p:sp>
      <p:sp>
        <p:nvSpPr>
          <p:cNvPr id="1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219C96-D202-07FD-57D6-E76009335173}"/>
              </a:ext>
            </a:extLst>
          </p:cNvPr>
          <p:cNvSpPr>
            <a:spLocks noGrp="1"/>
          </p:cNvSpPr>
          <p:nvPr>
            <p:ph idx="1"/>
          </p:nvPr>
        </p:nvSpPr>
        <p:spPr>
          <a:xfrm>
            <a:off x="572493" y="2071316"/>
            <a:ext cx="6713552" cy="4119172"/>
          </a:xfrm>
        </p:spPr>
        <p:txBody>
          <a:bodyPr vert="horz" lIns="91440" tIns="45720" rIns="91440" bIns="45720" rtlCol="0" anchor="t">
            <a:normAutofit/>
          </a:bodyPr>
          <a:lstStyle/>
          <a:p>
            <a:pPr marL="0" indent="0">
              <a:buNone/>
            </a:pPr>
            <a:r>
              <a:rPr lang="en-US" sz="1900" b="1"/>
              <a:t>Key Benefits:</a:t>
            </a:r>
          </a:p>
          <a:p>
            <a:pPr>
              <a:buFont typeface="Arial"/>
              <a:buChar char="•"/>
            </a:pPr>
            <a:r>
              <a:rPr lang="en-US" sz="1900"/>
              <a:t>Loose</a:t>
            </a:r>
            <a:r>
              <a:rPr lang="en-US" sz="1900">
                <a:ea typeface="+mn-lt"/>
                <a:cs typeface="+mn-lt"/>
              </a:rPr>
              <a:t> coupling</a:t>
            </a:r>
            <a:r>
              <a:rPr lang="en-US" sz="1900" b="1">
                <a:ea typeface="+mn-lt"/>
                <a:cs typeface="+mn-lt"/>
              </a:rPr>
              <a:t>: </a:t>
            </a:r>
            <a:r>
              <a:rPr lang="en-US" sz="1900">
                <a:ea typeface="+mn-lt"/>
                <a:cs typeface="+mn-lt"/>
              </a:rPr>
              <a:t>Components interact only through well-defined connectors</a:t>
            </a:r>
            <a:endParaRPr lang="en-US" sz="1900"/>
          </a:p>
          <a:p>
            <a:pPr>
              <a:buFont typeface="Arial"/>
              <a:buChar char="•"/>
            </a:pPr>
            <a:r>
              <a:rPr lang="en-US" sz="1900">
                <a:ea typeface="+mn-lt"/>
                <a:cs typeface="+mn-lt"/>
              </a:rPr>
              <a:t>Scalability: Each service auto-scales independently in Code Engine</a:t>
            </a:r>
            <a:endParaRPr lang="en-US" sz="1900"/>
          </a:p>
          <a:p>
            <a:pPr>
              <a:buFont typeface="Arial"/>
              <a:buChar char="•"/>
            </a:pPr>
            <a:r>
              <a:rPr lang="en-US" sz="1900">
                <a:ea typeface="+mn-lt"/>
                <a:cs typeface="+mn-lt"/>
              </a:rPr>
              <a:t>Modifiability: Computation modules and microservices can evolve without UI changes</a:t>
            </a:r>
          </a:p>
          <a:p>
            <a:pPr>
              <a:buFont typeface="Arial"/>
              <a:buChar char="•"/>
            </a:pPr>
            <a:r>
              <a:rPr lang="en-US" sz="1900">
                <a:ea typeface="+mn-lt"/>
                <a:cs typeface="+mn-lt"/>
              </a:rPr>
              <a:t>Resilience: Service registry enables dynamic lookup of healthy instances</a:t>
            </a:r>
            <a:endParaRPr lang="en-US" sz="1900"/>
          </a:p>
          <a:p>
            <a:pPr>
              <a:buFont typeface="Arial"/>
              <a:buChar char="•"/>
            </a:pPr>
            <a:r>
              <a:rPr lang="en-US" sz="1900">
                <a:ea typeface="+mn-lt"/>
                <a:cs typeface="+mn-lt"/>
              </a:rPr>
              <a:t>Separation of concerns: UI, services, analytics, and data layers are isolated</a:t>
            </a:r>
            <a:endParaRPr lang="en-US" sz="1900"/>
          </a:p>
          <a:p>
            <a:pPr>
              <a:buFont typeface="Arial,Sans-Serif"/>
              <a:buChar char="•"/>
            </a:pPr>
            <a:endParaRPr lang="en-US" sz="1900"/>
          </a:p>
          <a:p>
            <a:pPr>
              <a:buNone/>
            </a:pPr>
            <a:endParaRPr lang="en-US" sz="1900"/>
          </a:p>
        </p:txBody>
      </p:sp>
      <p:pic>
        <p:nvPicPr>
          <p:cNvPr id="6" name="Picture 5" descr="Plug - Free technology icons">
            <a:extLst>
              <a:ext uri="{FF2B5EF4-FFF2-40B4-BE49-F238E27FC236}">
                <a16:creationId xmlns:a16="http://schemas.microsoft.com/office/drawing/2014/main" id="{231C7F57-D0F4-CF8C-BEB9-08C4E61F35AE}"/>
              </a:ext>
            </a:extLst>
          </p:cNvPr>
          <p:cNvPicPr>
            <a:picLocks noChangeAspect="1"/>
          </p:cNvPicPr>
          <p:nvPr/>
        </p:nvPicPr>
        <p:blipFill>
          <a:blip r:embed="rId2"/>
          <a:stretch>
            <a:fillRect/>
          </a:stretch>
        </p:blipFill>
        <p:spPr>
          <a:xfrm>
            <a:off x="8178284" y="2367287"/>
            <a:ext cx="2859325" cy="2908871"/>
          </a:xfrm>
          <a:prstGeom prst="rect">
            <a:avLst/>
          </a:prstGeom>
        </p:spPr>
      </p:pic>
    </p:spTree>
    <p:extLst>
      <p:ext uri="{BB962C8B-B14F-4D97-AF65-F5344CB8AC3E}">
        <p14:creationId xmlns:p14="http://schemas.microsoft.com/office/powerpoint/2010/main" val="2461739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00047-D20F-4C37-0EE3-804EE50C2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999E3-3530-5732-2B0D-768430A08877}"/>
              </a:ext>
            </a:extLst>
          </p:cNvPr>
          <p:cNvSpPr>
            <a:spLocks noGrp="1"/>
          </p:cNvSpPr>
          <p:nvPr>
            <p:ph type="title"/>
          </p:nvPr>
        </p:nvSpPr>
        <p:spPr>
          <a:xfrm>
            <a:off x="234351" y="178219"/>
            <a:ext cx="7884544" cy="491678"/>
          </a:xfrm>
        </p:spPr>
        <p:txBody>
          <a:bodyPr>
            <a:normAutofit fontScale="90000"/>
          </a:bodyPr>
          <a:lstStyle/>
          <a:p>
            <a:r>
              <a:rPr lang="en-US" sz="3200"/>
              <a:t>Component and Connector View</a:t>
            </a:r>
          </a:p>
        </p:txBody>
      </p:sp>
      <p:pic>
        <p:nvPicPr>
          <p:cNvPr id="4" name="Content Placeholder 3" descr="A diagram of a stock research application&#10;&#10;AI-generated content may be incorrect.">
            <a:extLst>
              <a:ext uri="{FF2B5EF4-FFF2-40B4-BE49-F238E27FC236}">
                <a16:creationId xmlns:a16="http://schemas.microsoft.com/office/drawing/2014/main" id="{5F1998C1-6408-D475-3632-8C226CB89783}"/>
              </a:ext>
            </a:extLst>
          </p:cNvPr>
          <p:cNvPicPr>
            <a:picLocks noGrp="1" noChangeAspect="1"/>
          </p:cNvPicPr>
          <p:nvPr>
            <p:ph idx="1"/>
          </p:nvPr>
        </p:nvPicPr>
        <p:blipFill>
          <a:blip r:embed="rId2"/>
          <a:stretch>
            <a:fillRect/>
          </a:stretch>
        </p:blipFill>
        <p:spPr>
          <a:xfrm>
            <a:off x="1380227" y="677382"/>
            <a:ext cx="9431547" cy="5900200"/>
          </a:xfrm>
          <a:prstGeom prst="rect">
            <a:avLst/>
          </a:prstGeom>
        </p:spPr>
      </p:pic>
    </p:spTree>
    <p:extLst>
      <p:ext uri="{BB962C8B-B14F-4D97-AF65-F5344CB8AC3E}">
        <p14:creationId xmlns:p14="http://schemas.microsoft.com/office/powerpoint/2010/main" val="1612507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15D74-227A-9E78-F1C6-B6282CC294DD}"/>
              </a:ext>
            </a:extLst>
          </p:cNvPr>
          <p:cNvSpPr>
            <a:spLocks noGrp="1"/>
          </p:cNvSpPr>
          <p:nvPr>
            <p:ph type="title"/>
          </p:nvPr>
        </p:nvSpPr>
        <p:spPr>
          <a:xfrm>
            <a:off x="148086" y="2714909"/>
            <a:ext cx="5167223" cy="994886"/>
          </a:xfrm>
        </p:spPr>
        <p:txBody>
          <a:bodyPr>
            <a:normAutofit/>
          </a:bodyPr>
          <a:lstStyle/>
          <a:p>
            <a:r>
              <a:rPr lang="en-US" sz="3600"/>
              <a:t>Quality Views - Security</a:t>
            </a:r>
          </a:p>
        </p:txBody>
      </p:sp>
      <p:pic>
        <p:nvPicPr>
          <p:cNvPr id="6" name="Picture 5">
            <a:extLst>
              <a:ext uri="{FF2B5EF4-FFF2-40B4-BE49-F238E27FC236}">
                <a16:creationId xmlns:a16="http://schemas.microsoft.com/office/drawing/2014/main" id="{FFDA34F0-DB9C-4302-DACF-5682B9EE0FF0}"/>
              </a:ext>
            </a:extLst>
          </p:cNvPr>
          <p:cNvPicPr>
            <a:picLocks noChangeAspect="1"/>
          </p:cNvPicPr>
          <p:nvPr/>
        </p:nvPicPr>
        <p:blipFill>
          <a:blip r:embed="rId2"/>
          <a:stretch>
            <a:fillRect/>
          </a:stretch>
        </p:blipFill>
        <p:spPr>
          <a:xfrm>
            <a:off x="5447725" y="10486"/>
            <a:ext cx="6742473" cy="6845448"/>
          </a:xfrm>
          <a:prstGeom prst="rect">
            <a:avLst/>
          </a:prstGeom>
        </p:spPr>
      </p:pic>
      <p:pic>
        <p:nvPicPr>
          <p:cNvPr id="3" name="Picture 2" descr="A black and orange line&#10;&#10;AI-generated content may be incorrect.">
            <a:extLst>
              <a:ext uri="{FF2B5EF4-FFF2-40B4-BE49-F238E27FC236}">
                <a16:creationId xmlns:a16="http://schemas.microsoft.com/office/drawing/2014/main" id="{19AF7DBC-58A4-F5A8-B859-7F3ED141F951}"/>
              </a:ext>
            </a:extLst>
          </p:cNvPr>
          <p:cNvPicPr>
            <a:picLocks noChangeAspect="1"/>
          </p:cNvPicPr>
          <p:nvPr/>
        </p:nvPicPr>
        <p:blipFill>
          <a:blip r:embed="rId3"/>
          <a:stretch>
            <a:fillRect/>
          </a:stretch>
        </p:blipFill>
        <p:spPr>
          <a:xfrm>
            <a:off x="146874" y="3429158"/>
            <a:ext cx="3364694" cy="559607"/>
          </a:xfrm>
          <a:prstGeom prst="rect">
            <a:avLst/>
          </a:prstGeom>
        </p:spPr>
      </p:pic>
    </p:spTree>
    <p:extLst>
      <p:ext uri="{BB962C8B-B14F-4D97-AF65-F5344CB8AC3E}">
        <p14:creationId xmlns:p14="http://schemas.microsoft.com/office/powerpoint/2010/main" val="2987467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96225-3343-D893-1789-CDC46D72302F}"/>
              </a:ext>
            </a:extLst>
          </p:cNvPr>
          <p:cNvSpPr>
            <a:spLocks noGrp="1"/>
          </p:cNvSpPr>
          <p:nvPr>
            <p:ph type="title"/>
          </p:nvPr>
        </p:nvSpPr>
        <p:spPr/>
        <p:txBody>
          <a:bodyPr>
            <a:normAutofit/>
          </a:bodyPr>
          <a:lstStyle/>
          <a:p>
            <a:r>
              <a:rPr lang="en-US" sz="3600">
                <a:ea typeface="+mj-lt"/>
                <a:cs typeface="+mj-lt"/>
              </a:rPr>
              <a:t>Security View</a:t>
            </a:r>
          </a:p>
        </p:txBody>
      </p:sp>
      <p:sp>
        <p:nvSpPr>
          <p:cNvPr id="3" name="Content Placeholder 2">
            <a:extLst>
              <a:ext uri="{FF2B5EF4-FFF2-40B4-BE49-F238E27FC236}">
                <a16:creationId xmlns:a16="http://schemas.microsoft.com/office/drawing/2014/main" id="{BF57CB5D-42DB-8B44-B324-ED6C3CAFEFD5}"/>
              </a:ext>
            </a:extLst>
          </p:cNvPr>
          <p:cNvSpPr>
            <a:spLocks noGrp="1"/>
          </p:cNvSpPr>
          <p:nvPr>
            <p:ph idx="1"/>
          </p:nvPr>
        </p:nvSpPr>
        <p:spPr>
          <a:xfrm>
            <a:off x="838200" y="1502352"/>
            <a:ext cx="8137237" cy="4674611"/>
          </a:xfrm>
        </p:spPr>
        <p:txBody>
          <a:bodyPr vert="horz" lIns="91440" tIns="45720" rIns="91440" bIns="45720" rtlCol="0" anchor="t">
            <a:normAutofit/>
          </a:bodyPr>
          <a:lstStyle/>
          <a:p>
            <a:pPr>
              <a:buNone/>
            </a:pPr>
            <a:r>
              <a:rPr lang="en-US" sz="2900">
                <a:ea typeface="+mn-lt"/>
                <a:cs typeface="+mn-lt"/>
              </a:rPr>
              <a:t>Purpose</a:t>
            </a:r>
            <a:endParaRPr lang="en-US" sz="2900"/>
          </a:p>
          <a:p>
            <a:r>
              <a:rPr lang="en-US" sz="2400">
                <a:ea typeface="+mn-lt"/>
                <a:cs typeface="+mn-lt"/>
              </a:rPr>
              <a:t>The purpose of the security view is to show how security interacts with the system and where it is present. In the sequence diagram we have identified all components that use some sort of security and show the links between these components.</a:t>
            </a:r>
            <a:endParaRPr lang="en-US" b="1">
              <a:ea typeface="+mn-lt"/>
              <a:cs typeface="+mn-lt"/>
            </a:endParaRPr>
          </a:p>
          <a:p>
            <a:r>
              <a:rPr lang="en-US" sz="2400" b="1">
                <a:ea typeface="+mn-lt"/>
                <a:cs typeface="+mn-lt"/>
              </a:rPr>
              <a:t> Our requirements for security are keeping user data and data transfers secure.</a:t>
            </a:r>
            <a:endParaRPr lang="en-US" b="1"/>
          </a:p>
          <a:p>
            <a:pPr>
              <a:buNone/>
            </a:pPr>
            <a:endParaRPr lang="en-US"/>
          </a:p>
          <a:p>
            <a:pPr>
              <a:buNone/>
            </a:pPr>
            <a:endParaRPr lang="en-US" sz="2000"/>
          </a:p>
          <a:p>
            <a:pPr marL="0" indent="0">
              <a:buNone/>
            </a:pPr>
            <a:endParaRPr lang="en-US" sz="2400">
              <a:ea typeface="+mn-lt"/>
              <a:cs typeface="+mn-lt"/>
            </a:endParaRPr>
          </a:p>
        </p:txBody>
      </p:sp>
      <p:pic>
        <p:nvPicPr>
          <p:cNvPr id="4" name="Picture 3" descr="Secure - Free security icons">
            <a:extLst>
              <a:ext uri="{FF2B5EF4-FFF2-40B4-BE49-F238E27FC236}">
                <a16:creationId xmlns:a16="http://schemas.microsoft.com/office/drawing/2014/main" id="{AC043023-B3C2-F029-F62E-29DAF2AA6788}"/>
              </a:ext>
            </a:extLst>
          </p:cNvPr>
          <p:cNvPicPr>
            <a:picLocks noChangeAspect="1"/>
          </p:cNvPicPr>
          <p:nvPr/>
        </p:nvPicPr>
        <p:blipFill>
          <a:blip r:embed="rId2"/>
          <a:stretch>
            <a:fillRect/>
          </a:stretch>
        </p:blipFill>
        <p:spPr>
          <a:xfrm>
            <a:off x="8977223" y="1824486"/>
            <a:ext cx="2648310" cy="2648310"/>
          </a:xfrm>
          <a:prstGeom prst="rect">
            <a:avLst/>
          </a:prstGeom>
        </p:spPr>
      </p:pic>
    </p:spTree>
    <p:extLst>
      <p:ext uri="{BB962C8B-B14F-4D97-AF65-F5344CB8AC3E}">
        <p14:creationId xmlns:p14="http://schemas.microsoft.com/office/powerpoint/2010/main" val="2777972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22D3B-4BC3-CE95-624B-C0BF484E3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A7419-F71F-49B1-E20F-12EC4159254B}"/>
              </a:ext>
            </a:extLst>
          </p:cNvPr>
          <p:cNvSpPr>
            <a:spLocks noGrp="1"/>
          </p:cNvSpPr>
          <p:nvPr>
            <p:ph type="title"/>
          </p:nvPr>
        </p:nvSpPr>
        <p:spPr/>
        <p:txBody>
          <a:bodyPr>
            <a:normAutofit/>
          </a:bodyPr>
          <a:lstStyle/>
          <a:p>
            <a:r>
              <a:rPr lang="en-US" sz="3600">
                <a:ea typeface="+mj-lt"/>
                <a:cs typeface="+mj-lt"/>
              </a:rPr>
              <a:t>Security View</a:t>
            </a:r>
          </a:p>
        </p:txBody>
      </p:sp>
      <p:sp>
        <p:nvSpPr>
          <p:cNvPr id="3" name="Content Placeholder 2">
            <a:extLst>
              <a:ext uri="{FF2B5EF4-FFF2-40B4-BE49-F238E27FC236}">
                <a16:creationId xmlns:a16="http://schemas.microsoft.com/office/drawing/2014/main" id="{6864A1A5-A40A-7C15-0C4D-6CAD3447393A}"/>
              </a:ext>
            </a:extLst>
          </p:cNvPr>
          <p:cNvSpPr>
            <a:spLocks noGrp="1"/>
          </p:cNvSpPr>
          <p:nvPr>
            <p:ph idx="1"/>
          </p:nvPr>
        </p:nvSpPr>
        <p:spPr>
          <a:xfrm>
            <a:off x="838200" y="1502352"/>
            <a:ext cx="8137237" cy="4674611"/>
          </a:xfrm>
        </p:spPr>
        <p:txBody>
          <a:bodyPr vert="horz" lIns="91440" tIns="45720" rIns="91440" bIns="45720" rtlCol="0" anchor="t">
            <a:normAutofit lnSpcReduction="10000"/>
          </a:bodyPr>
          <a:lstStyle/>
          <a:p>
            <a:pPr>
              <a:buNone/>
            </a:pPr>
            <a:r>
              <a:rPr lang="en-US" sz="2900">
                <a:ea typeface="+mn-lt"/>
                <a:cs typeface="+mn-lt"/>
              </a:rPr>
              <a:t>Security Implementation </a:t>
            </a:r>
            <a:endParaRPr lang="en-US" sz="2900"/>
          </a:p>
          <a:p>
            <a:r>
              <a:rPr lang="en-US" sz="2400">
                <a:ea typeface="+mn-lt"/>
                <a:cs typeface="+mn-lt"/>
              </a:rPr>
              <a:t>These are the forms of security present in our system and shown in the sequence diagram:</a:t>
            </a:r>
            <a:endParaRPr lang="en-US"/>
          </a:p>
          <a:p>
            <a:r>
              <a:rPr lang="en-US" sz="2400">
                <a:ea typeface="+mn-lt"/>
                <a:cs typeface="+mn-lt"/>
              </a:rPr>
              <a:t>Validating passwords, user details, and API keys are all part of ensuring that data received is safe and applicable to the system.</a:t>
            </a:r>
            <a:endParaRPr lang="en-US"/>
          </a:p>
          <a:p>
            <a:r>
              <a:rPr lang="en-US" sz="2400">
                <a:ea typeface="+mn-lt"/>
                <a:cs typeface="+mn-lt"/>
              </a:rPr>
              <a:t>Secure Transfer Protocols:</a:t>
            </a:r>
            <a:endParaRPr lang="en-US"/>
          </a:p>
          <a:p>
            <a:pPr lvl="1">
              <a:buFont typeface="Courier New" panose="020B0604020202020204" pitchFamily="34" charset="0"/>
              <a:buChar char="o"/>
            </a:pPr>
            <a:r>
              <a:rPr lang="en-US" sz="2000">
                <a:ea typeface="+mn-lt"/>
                <a:cs typeface="+mn-lt"/>
              </a:rPr>
              <a:t>HTTPS is a common protocol used to transfer information, but it is also known to be a safe transport protocol (The S at the end of HTTPS stands for Secure). Requests and returns to and from the API database all use HTTPS.</a:t>
            </a:r>
            <a:endParaRPr lang="en-US"/>
          </a:p>
          <a:p>
            <a:pPr lvl="1">
              <a:buFont typeface="Courier New" panose="020B0604020202020204" pitchFamily="34" charset="0"/>
              <a:buChar char="o"/>
            </a:pPr>
            <a:r>
              <a:rPr lang="en-US" sz="2000">
                <a:ea typeface="+mn-lt"/>
                <a:cs typeface="+mn-lt"/>
              </a:rPr>
              <a:t>IBM Security Protocols: Our server, database, and many of our other services are all hosted on IBM cloud. They all use IBM security protocols for the safe transfer of data to and from these locations.</a:t>
            </a:r>
            <a:endParaRPr lang="en-US"/>
          </a:p>
          <a:p>
            <a:pPr marL="0" indent="0">
              <a:buNone/>
            </a:pPr>
            <a:endParaRPr lang="en-US" sz="2400">
              <a:ea typeface="+mn-lt"/>
              <a:cs typeface="+mn-lt"/>
            </a:endParaRPr>
          </a:p>
        </p:txBody>
      </p:sp>
      <p:pic>
        <p:nvPicPr>
          <p:cNvPr id="4" name="Picture 3" descr="17,800+ Https Stock Photos, Pictures &amp; Royalty-Free Images ...">
            <a:extLst>
              <a:ext uri="{FF2B5EF4-FFF2-40B4-BE49-F238E27FC236}">
                <a16:creationId xmlns:a16="http://schemas.microsoft.com/office/drawing/2014/main" id="{C6B6C93A-ACBC-3BF4-8E9F-6A83A356AB2B}"/>
              </a:ext>
            </a:extLst>
          </p:cNvPr>
          <p:cNvPicPr>
            <a:picLocks noChangeAspect="1"/>
          </p:cNvPicPr>
          <p:nvPr/>
        </p:nvPicPr>
        <p:blipFill>
          <a:blip r:embed="rId2"/>
          <a:stretch>
            <a:fillRect/>
          </a:stretch>
        </p:blipFill>
        <p:spPr>
          <a:xfrm>
            <a:off x="9323876" y="1715965"/>
            <a:ext cx="2524125" cy="14097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6" name="Picture 5" descr="IBM Security QRadar and Microsoft ...">
            <a:extLst>
              <a:ext uri="{FF2B5EF4-FFF2-40B4-BE49-F238E27FC236}">
                <a16:creationId xmlns:a16="http://schemas.microsoft.com/office/drawing/2014/main" id="{EFF8957C-0777-401E-A551-582ABA8FF20C}"/>
              </a:ext>
            </a:extLst>
          </p:cNvPr>
          <p:cNvPicPr>
            <a:picLocks noChangeAspect="1"/>
          </p:cNvPicPr>
          <p:nvPr/>
        </p:nvPicPr>
        <p:blipFill>
          <a:blip r:embed="rId3"/>
          <a:stretch>
            <a:fillRect/>
          </a:stretch>
        </p:blipFill>
        <p:spPr>
          <a:xfrm>
            <a:off x="9233045" y="3835111"/>
            <a:ext cx="2962275" cy="1543050"/>
          </a:xfrm>
          <a:prstGeom prst="ellipse">
            <a:avLst/>
          </a:prstGeom>
          <a:ln>
            <a:noFill/>
          </a:ln>
          <a:effectLst>
            <a:softEdge rad="112500"/>
          </a:effectLst>
        </p:spPr>
      </p:pic>
    </p:spTree>
    <p:extLst>
      <p:ext uri="{BB962C8B-B14F-4D97-AF65-F5344CB8AC3E}">
        <p14:creationId xmlns:p14="http://schemas.microsoft.com/office/powerpoint/2010/main" val="409583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3AFA0-9FA7-4FE0-E6AC-FE617789B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EBCF7-BBA2-9CF9-3FC9-A02C2ADD8AE2}"/>
              </a:ext>
            </a:extLst>
          </p:cNvPr>
          <p:cNvSpPr>
            <a:spLocks noGrp="1"/>
          </p:cNvSpPr>
          <p:nvPr>
            <p:ph type="title"/>
          </p:nvPr>
        </p:nvSpPr>
        <p:spPr>
          <a:xfrm>
            <a:off x="90576" y="91955"/>
            <a:ext cx="8272732" cy="994886"/>
          </a:xfrm>
        </p:spPr>
        <p:txBody>
          <a:bodyPr>
            <a:normAutofit/>
          </a:bodyPr>
          <a:lstStyle/>
          <a:p>
            <a:r>
              <a:rPr lang="en-US" sz="3600"/>
              <a:t>Quality Views - Communication</a:t>
            </a:r>
          </a:p>
        </p:txBody>
      </p:sp>
      <p:pic>
        <p:nvPicPr>
          <p:cNvPr id="3" name="Picture 2" descr="A diagram of a portfolio&#10;&#10;AI-generated content may be incorrect.">
            <a:extLst>
              <a:ext uri="{FF2B5EF4-FFF2-40B4-BE49-F238E27FC236}">
                <a16:creationId xmlns:a16="http://schemas.microsoft.com/office/drawing/2014/main" id="{6FC8FB23-031A-05EA-9DDC-9E04C7B5DF52}"/>
              </a:ext>
            </a:extLst>
          </p:cNvPr>
          <p:cNvPicPr>
            <a:picLocks noChangeAspect="1"/>
          </p:cNvPicPr>
          <p:nvPr/>
        </p:nvPicPr>
        <p:blipFill>
          <a:blip r:embed="rId2"/>
          <a:stretch>
            <a:fillRect/>
          </a:stretch>
        </p:blipFill>
        <p:spPr>
          <a:xfrm>
            <a:off x="89844" y="1448420"/>
            <a:ext cx="12098407" cy="4819574"/>
          </a:xfrm>
          <a:prstGeom prst="rect">
            <a:avLst/>
          </a:prstGeom>
        </p:spPr>
      </p:pic>
    </p:spTree>
    <p:extLst>
      <p:ext uri="{BB962C8B-B14F-4D97-AF65-F5344CB8AC3E}">
        <p14:creationId xmlns:p14="http://schemas.microsoft.com/office/powerpoint/2010/main" val="1775453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E663B-71FC-C43E-B45B-17E7741C2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447AA-4D09-D030-FA67-DBBDA5D5029B}"/>
              </a:ext>
            </a:extLst>
          </p:cNvPr>
          <p:cNvSpPr>
            <a:spLocks noGrp="1"/>
          </p:cNvSpPr>
          <p:nvPr>
            <p:ph type="title"/>
          </p:nvPr>
        </p:nvSpPr>
        <p:spPr/>
        <p:txBody>
          <a:bodyPr>
            <a:normAutofit/>
          </a:bodyPr>
          <a:lstStyle/>
          <a:p>
            <a:r>
              <a:rPr lang="en-US" sz="3600">
                <a:ea typeface="+mj-lt"/>
                <a:cs typeface="+mj-lt"/>
              </a:rPr>
              <a:t>Communication View</a:t>
            </a:r>
          </a:p>
        </p:txBody>
      </p:sp>
      <p:sp>
        <p:nvSpPr>
          <p:cNvPr id="3" name="Content Placeholder 2">
            <a:extLst>
              <a:ext uri="{FF2B5EF4-FFF2-40B4-BE49-F238E27FC236}">
                <a16:creationId xmlns:a16="http://schemas.microsoft.com/office/drawing/2014/main" id="{0F25BDE0-526A-E588-1066-F174A79C792B}"/>
              </a:ext>
            </a:extLst>
          </p:cNvPr>
          <p:cNvSpPr>
            <a:spLocks noGrp="1"/>
          </p:cNvSpPr>
          <p:nvPr>
            <p:ph idx="1"/>
          </p:nvPr>
        </p:nvSpPr>
        <p:spPr>
          <a:xfrm>
            <a:off x="838200" y="1502352"/>
            <a:ext cx="8137237" cy="4674611"/>
          </a:xfrm>
        </p:spPr>
        <p:txBody>
          <a:bodyPr vert="horz" lIns="91440" tIns="45720" rIns="91440" bIns="45720" rtlCol="0" anchor="t">
            <a:normAutofit/>
          </a:bodyPr>
          <a:lstStyle/>
          <a:p>
            <a:pPr marL="0" indent="0">
              <a:buNone/>
            </a:pPr>
            <a:r>
              <a:rPr lang="en-US">
                <a:ea typeface="+mn-lt"/>
                <a:cs typeface="+mn-lt"/>
              </a:rPr>
              <a:t>Purpose</a:t>
            </a:r>
            <a:endParaRPr lang="en-US"/>
          </a:p>
          <a:p>
            <a:pPr marL="0" indent="0">
              <a:buNone/>
            </a:pPr>
            <a:endParaRPr lang="en-US">
              <a:ea typeface="+mn-lt"/>
              <a:cs typeface="+mn-lt"/>
            </a:endParaRPr>
          </a:p>
          <a:p>
            <a:pPr marL="342900" indent="-342900"/>
            <a:r>
              <a:rPr lang="en-US" sz="2400">
                <a:ea typeface="+mn-lt"/>
                <a:cs typeface="+mn-lt"/>
              </a:rPr>
              <a:t>Interaction across multiple microservices and external systems.</a:t>
            </a:r>
          </a:p>
          <a:p>
            <a:pPr marL="800100" lvl="1" indent="-342900">
              <a:buFont typeface="Courier New" panose="020B0604020202020204" pitchFamily="34" charset="0"/>
              <a:buChar char="o"/>
            </a:pPr>
            <a:r>
              <a:rPr lang="en-US" sz="2000">
                <a:ea typeface="+mn-lt"/>
                <a:cs typeface="+mn-lt"/>
              </a:rPr>
              <a:t>Loose coupling between services</a:t>
            </a:r>
          </a:p>
          <a:p>
            <a:pPr marL="800100" lvl="1" indent="-342900">
              <a:buFont typeface="Courier New" panose="020B0604020202020204" pitchFamily="34" charset="0"/>
              <a:buChar char="o"/>
            </a:pPr>
            <a:r>
              <a:rPr lang="en-US" sz="2000">
                <a:ea typeface="+mn-lt"/>
                <a:cs typeface="+mn-lt"/>
              </a:rPr>
              <a:t>Dynamic scaling and replacement of microservices </a:t>
            </a:r>
            <a:endParaRPr lang="en-US" sz="2000"/>
          </a:p>
          <a:p>
            <a:pPr marL="800100" lvl="1" indent="-342900">
              <a:buFont typeface="Courier New" panose="020B0604020202020204" pitchFamily="34" charset="0"/>
              <a:buChar char="o"/>
            </a:pPr>
            <a:r>
              <a:rPr lang="en-US" sz="2000">
                <a:ea typeface="+mn-lt"/>
                <a:cs typeface="+mn-lt"/>
              </a:rPr>
              <a:t>Clear separation of responsibilities</a:t>
            </a:r>
          </a:p>
          <a:p>
            <a:pPr marL="0" indent="0">
              <a:buNone/>
            </a:pPr>
            <a:endParaRPr lang="en-US">
              <a:ea typeface="+mn-lt"/>
              <a:cs typeface="+mn-lt"/>
            </a:endParaRPr>
          </a:p>
          <a:p>
            <a:pPr marL="0" indent="0">
              <a:buNone/>
            </a:pPr>
            <a:endParaRPr lang="en-US" sz="2400">
              <a:ea typeface="+mn-lt"/>
              <a:cs typeface="+mn-lt"/>
            </a:endParaRPr>
          </a:p>
          <a:p>
            <a:pPr marL="0" indent="0">
              <a:buNone/>
            </a:pPr>
            <a:endParaRPr lang="en-US" sz="2400">
              <a:ea typeface="+mn-lt"/>
              <a:cs typeface="+mn-lt"/>
            </a:endParaRPr>
          </a:p>
        </p:txBody>
      </p:sp>
      <p:pic>
        <p:nvPicPr>
          <p:cNvPr id="4" name="Picture 3" descr="Communication - Free people icons">
            <a:extLst>
              <a:ext uri="{FF2B5EF4-FFF2-40B4-BE49-F238E27FC236}">
                <a16:creationId xmlns:a16="http://schemas.microsoft.com/office/drawing/2014/main" id="{29706E16-3E9F-00C4-4346-0E315DA911D9}"/>
              </a:ext>
            </a:extLst>
          </p:cNvPr>
          <p:cNvPicPr>
            <a:picLocks noChangeAspect="1"/>
          </p:cNvPicPr>
          <p:nvPr/>
        </p:nvPicPr>
        <p:blipFill>
          <a:blip r:embed="rId2"/>
          <a:stretch>
            <a:fillRect/>
          </a:stretch>
        </p:blipFill>
        <p:spPr>
          <a:xfrm>
            <a:off x="8819071" y="1968260"/>
            <a:ext cx="2605178" cy="2562046"/>
          </a:xfrm>
          <a:prstGeom prst="rect">
            <a:avLst/>
          </a:prstGeom>
        </p:spPr>
      </p:pic>
    </p:spTree>
    <p:extLst>
      <p:ext uri="{BB962C8B-B14F-4D97-AF65-F5344CB8AC3E}">
        <p14:creationId xmlns:p14="http://schemas.microsoft.com/office/powerpoint/2010/main" val="918317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823DC-53C3-713B-AAA2-1C96100BB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42FC8-7EBB-8D29-B48F-A13AC70E7D7B}"/>
              </a:ext>
            </a:extLst>
          </p:cNvPr>
          <p:cNvSpPr>
            <a:spLocks noGrp="1"/>
          </p:cNvSpPr>
          <p:nvPr>
            <p:ph type="title"/>
          </p:nvPr>
        </p:nvSpPr>
        <p:spPr/>
        <p:txBody>
          <a:bodyPr>
            <a:normAutofit/>
          </a:bodyPr>
          <a:lstStyle/>
          <a:p>
            <a:r>
              <a:rPr lang="en-US" sz="3600">
                <a:ea typeface="+mj-lt"/>
                <a:cs typeface="+mj-lt"/>
              </a:rPr>
              <a:t>Communication View</a:t>
            </a:r>
          </a:p>
        </p:txBody>
      </p:sp>
      <p:sp>
        <p:nvSpPr>
          <p:cNvPr id="3" name="Content Placeholder 2">
            <a:extLst>
              <a:ext uri="{FF2B5EF4-FFF2-40B4-BE49-F238E27FC236}">
                <a16:creationId xmlns:a16="http://schemas.microsoft.com/office/drawing/2014/main" id="{49639D55-0A67-91A9-889D-535831CFBA7B}"/>
              </a:ext>
            </a:extLst>
          </p:cNvPr>
          <p:cNvSpPr>
            <a:spLocks noGrp="1"/>
          </p:cNvSpPr>
          <p:nvPr>
            <p:ph idx="1"/>
          </p:nvPr>
        </p:nvSpPr>
        <p:spPr>
          <a:xfrm>
            <a:off x="838200" y="1502352"/>
            <a:ext cx="8137237" cy="4674611"/>
          </a:xfrm>
        </p:spPr>
        <p:txBody>
          <a:bodyPr vert="horz" lIns="91440" tIns="45720" rIns="91440" bIns="45720" rtlCol="0" anchor="t">
            <a:normAutofit/>
          </a:bodyPr>
          <a:lstStyle/>
          <a:p>
            <a:pPr marL="0" indent="0">
              <a:buNone/>
            </a:pPr>
            <a:r>
              <a:rPr lang="en-US">
                <a:ea typeface="+mn-lt"/>
                <a:cs typeface="+mn-lt"/>
              </a:rPr>
              <a:t>Implementation of communication</a:t>
            </a:r>
          </a:p>
          <a:p>
            <a:r>
              <a:rPr lang="en-US" sz="2400">
                <a:ea typeface="+mn-lt"/>
                <a:cs typeface="+mn-lt"/>
              </a:rPr>
              <a:t>Clear separation of communication responsibilities is enforced in the architecture.</a:t>
            </a:r>
          </a:p>
          <a:p>
            <a:pPr lvl="1"/>
            <a:r>
              <a:rPr lang="en-US" sz="2000">
                <a:ea typeface="+mn-lt"/>
                <a:cs typeface="+mn-lt"/>
              </a:rPr>
              <a:t>Microservice Isolation</a:t>
            </a:r>
          </a:p>
          <a:p>
            <a:r>
              <a:rPr lang="en-US" sz="2400">
                <a:ea typeface="+mn-lt"/>
                <a:cs typeface="+mn-lt"/>
              </a:rPr>
              <a:t>Dynamic Replaceability</a:t>
            </a:r>
          </a:p>
          <a:p>
            <a:pPr lvl="1"/>
            <a:r>
              <a:rPr lang="en-US" sz="2000">
                <a:ea typeface="+mn-lt"/>
                <a:cs typeface="+mn-lt"/>
              </a:rPr>
              <a:t>any microservice can be removed, updated, or redeployed without affecting others.</a:t>
            </a:r>
          </a:p>
          <a:p>
            <a:r>
              <a:rPr lang="en-US" sz="2400">
                <a:ea typeface="+mn-lt"/>
                <a:cs typeface="+mn-lt"/>
              </a:rPr>
              <a:t>Portfolio Management Service (Gateway Layer):</a:t>
            </a:r>
          </a:p>
          <a:p>
            <a:pPr lvl="1"/>
            <a:r>
              <a:rPr lang="en-US" sz="2000">
                <a:ea typeface="+mn-lt"/>
                <a:cs typeface="+mn-lt"/>
              </a:rPr>
              <a:t>Acts as the single point of communication for the UI.</a:t>
            </a:r>
          </a:p>
          <a:p>
            <a:pPr lvl="1"/>
            <a:r>
              <a:rPr lang="en-US" sz="2000">
                <a:ea typeface="+mn-lt"/>
                <a:cs typeface="+mn-lt"/>
              </a:rPr>
              <a:t>reducing communication complexity</a:t>
            </a:r>
          </a:p>
          <a:p>
            <a:pPr marL="0" indent="0">
              <a:buNone/>
            </a:pPr>
            <a:endParaRPr lang="en-US" sz="2400">
              <a:ea typeface="+mn-lt"/>
              <a:cs typeface="+mn-lt"/>
            </a:endParaRPr>
          </a:p>
        </p:txBody>
      </p:sp>
      <p:pic>
        <p:nvPicPr>
          <p:cNvPr id="5" name="Picture 4" descr="Communication - Free people icons">
            <a:extLst>
              <a:ext uri="{FF2B5EF4-FFF2-40B4-BE49-F238E27FC236}">
                <a16:creationId xmlns:a16="http://schemas.microsoft.com/office/drawing/2014/main" id="{28FF7D43-EC7B-3FC0-E3F1-FB5C247062D4}"/>
              </a:ext>
            </a:extLst>
          </p:cNvPr>
          <p:cNvPicPr>
            <a:picLocks noChangeAspect="1"/>
          </p:cNvPicPr>
          <p:nvPr/>
        </p:nvPicPr>
        <p:blipFill>
          <a:blip r:embed="rId2"/>
          <a:stretch>
            <a:fillRect/>
          </a:stretch>
        </p:blipFill>
        <p:spPr>
          <a:xfrm>
            <a:off x="9236014" y="1968260"/>
            <a:ext cx="2605178" cy="2562046"/>
          </a:xfrm>
          <a:prstGeom prst="rect">
            <a:avLst/>
          </a:prstGeom>
        </p:spPr>
      </p:pic>
    </p:spTree>
    <p:extLst>
      <p:ext uri="{BB962C8B-B14F-4D97-AF65-F5344CB8AC3E}">
        <p14:creationId xmlns:p14="http://schemas.microsoft.com/office/powerpoint/2010/main" val="2514961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4DD027-9CED-F221-3009-EA688662316B}"/>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98FE0E0-D95D-46EF-A375-475D4DB0E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F49AA6-939B-C5B6-4725-BBFBF98A6F40}"/>
              </a:ext>
            </a:extLst>
          </p:cNvPr>
          <p:cNvSpPr>
            <a:spLocks noGrp="1"/>
          </p:cNvSpPr>
          <p:nvPr>
            <p:ph type="title"/>
          </p:nvPr>
        </p:nvSpPr>
        <p:spPr>
          <a:xfrm>
            <a:off x="701730" y="642098"/>
            <a:ext cx="6686012" cy="3566160"/>
          </a:xfrm>
        </p:spPr>
        <p:txBody>
          <a:bodyPr vert="horz" lIns="91440" tIns="45720" rIns="91440" bIns="45720" rtlCol="0" anchor="b">
            <a:normAutofit/>
          </a:bodyPr>
          <a:lstStyle/>
          <a:p>
            <a:r>
              <a:rPr lang="en-US" sz="3600"/>
              <a:t>Quality View – Error/Exception Handling</a:t>
            </a:r>
          </a:p>
        </p:txBody>
      </p:sp>
      <p:sp>
        <p:nvSpPr>
          <p:cNvPr id="28" name="sketchy line">
            <a:extLst>
              <a:ext uri="{FF2B5EF4-FFF2-40B4-BE49-F238E27FC236}">
                <a16:creationId xmlns:a16="http://schemas.microsoft.com/office/drawing/2014/main" id="{2D82A42F-AEBE-4065-9792-036A904D85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646" y="440926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413B45F0-25F1-FF53-7C74-6DB6E4A83D64}"/>
              </a:ext>
            </a:extLst>
          </p:cNvPr>
          <p:cNvPicPr>
            <a:picLocks noChangeAspect="1"/>
          </p:cNvPicPr>
          <p:nvPr/>
        </p:nvPicPr>
        <p:blipFill>
          <a:blip r:embed="rId2"/>
          <a:stretch>
            <a:fillRect/>
          </a:stretch>
        </p:blipFill>
        <p:spPr>
          <a:xfrm>
            <a:off x="5541978" y="0"/>
            <a:ext cx="6979074" cy="6858000"/>
          </a:xfrm>
          <a:prstGeom prst="rect">
            <a:avLst/>
          </a:prstGeom>
        </p:spPr>
      </p:pic>
    </p:spTree>
    <p:extLst>
      <p:ext uri="{BB962C8B-B14F-4D97-AF65-F5344CB8AC3E}">
        <p14:creationId xmlns:p14="http://schemas.microsoft.com/office/powerpoint/2010/main" val="2819767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2BA37-16D4-03D3-8943-053654247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4DF88E-5122-6D78-CABD-A42796CD3A59}"/>
              </a:ext>
            </a:extLst>
          </p:cNvPr>
          <p:cNvSpPr>
            <a:spLocks noGrp="1"/>
          </p:cNvSpPr>
          <p:nvPr>
            <p:ph type="title"/>
          </p:nvPr>
        </p:nvSpPr>
        <p:spPr/>
        <p:txBody>
          <a:bodyPr>
            <a:normAutofit/>
          </a:bodyPr>
          <a:lstStyle/>
          <a:p>
            <a:r>
              <a:rPr lang="en-US" sz="3600">
                <a:ea typeface="+mj-lt"/>
                <a:cs typeface="+mj-lt"/>
              </a:rPr>
              <a:t>Error/Exception-Handling View</a:t>
            </a:r>
          </a:p>
        </p:txBody>
      </p:sp>
      <p:sp>
        <p:nvSpPr>
          <p:cNvPr id="3" name="Content Placeholder 2">
            <a:extLst>
              <a:ext uri="{FF2B5EF4-FFF2-40B4-BE49-F238E27FC236}">
                <a16:creationId xmlns:a16="http://schemas.microsoft.com/office/drawing/2014/main" id="{92657C3A-38C2-81AE-258A-DEE795772AF0}"/>
              </a:ext>
            </a:extLst>
          </p:cNvPr>
          <p:cNvSpPr>
            <a:spLocks noGrp="1"/>
          </p:cNvSpPr>
          <p:nvPr>
            <p:ph idx="1"/>
          </p:nvPr>
        </p:nvSpPr>
        <p:spPr>
          <a:xfrm>
            <a:off x="838201" y="2487479"/>
            <a:ext cx="8137237" cy="2510700"/>
          </a:xfrm>
        </p:spPr>
        <p:txBody>
          <a:bodyPr vert="horz" lIns="91440" tIns="45720" rIns="91440" bIns="45720" rtlCol="0" anchor="t">
            <a:normAutofit/>
          </a:bodyPr>
          <a:lstStyle/>
          <a:p>
            <a:pPr marL="0" indent="0">
              <a:buNone/>
            </a:pPr>
            <a:r>
              <a:rPr lang="en-US" sz="2000">
                <a:ea typeface="+mn-lt"/>
                <a:cs typeface="+mn-lt"/>
              </a:rPr>
              <a:t>• </a:t>
            </a:r>
            <a:r>
              <a:rPr lang="en-US" sz="2000" b="1">
                <a:ea typeface="+mn-lt"/>
                <a:cs typeface="+mn-lt"/>
              </a:rPr>
              <a:t>Ensure System Resilience</a:t>
            </a:r>
            <a:r>
              <a:rPr lang="en-US" sz="2000">
                <a:ea typeface="+mn-lt"/>
                <a:cs typeface="+mn-lt"/>
              </a:rPr>
              <a:t>: Maintain service availability during component failures and network issues</a:t>
            </a:r>
            <a:br>
              <a:rPr lang="en-US" sz="2000">
                <a:ea typeface="+mn-lt"/>
                <a:cs typeface="+mn-lt"/>
              </a:rPr>
            </a:br>
            <a:r>
              <a:rPr lang="en-US" sz="2000">
                <a:ea typeface="+mn-lt"/>
                <a:cs typeface="+mn-lt"/>
              </a:rPr>
              <a:t>• </a:t>
            </a:r>
            <a:r>
              <a:rPr lang="en-US" sz="2000" b="1">
                <a:ea typeface="+mn-lt"/>
                <a:cs typeface="+mn-lt"/>
              </a:rPr>
              <a:t>Prevent Cascade Failures</a:t>
            </a:r>
            <a:r>
              <a:rPr lang="en-US" sz="2000">
                <a:ea typeface="+mn-lt"/>
                <a:cs typeface="+mn-lt"/>
              </a:rPr>
              <a:t>: Isolate faults to prevent system-wide outages</a:t>
            </a:r>
            <a:br>
              <a:rPr lang="en-US" sz="2000">
                <a:ea typeface="+mn-lt"/>
                <a:cs typeface="+mn-lt"/>
              </a:rPr>
            </a:br>
            <a:r>
              <a:rPr lang="en-US" sz="2000">
                <a:ea typeface="+mn-lt"/>
                <a:cs typeface="+mn-lt"/>
              </a:rPr>
              <a:t>• </a:t>
            </a:r>
            <a:r>
              <a:rPr lang="en-US" sz="2000" b="1">
                <a:ea typeface="+mn-lt"/>
                <a:cs typeface="+mn-lt"/>
              </a:rPr>
              <a:t>Preserve Data Integrity</a:t>
            </a:r>
            <a:r>
              <a:rPr lang="en-US" sz="2000">
                <a:ea typeface="+mn-lt"/>
                <a:cs typeface="+mn-lt"/>
              </a:rPr>
              <a:t>: Guarantee consistency despite transient failures</a:t>
            </a:r>
            <a:br>
              <a:rPr lang="en-US" sz="2000">
                <a:ea typeface="+mn-lt"/>
                <a:cs typeface="+mn-lt"/>
              </a:rPr>
            </a:br>
            <a:r>
              <a:rPr lang="en-US" sz="2000">
                <a:ea typeface="+mn-lt"/>
                <a:cs typeface="+mn-lt"/>
              </a:rPr>
              <a:t>• </a:t>
            </a:r>
            <a:r>
              <a:rPr lang="en-US" sz="2000" b="1">
                <a:ea typeface="+mn-lt"/>
                <a:cs typeface="+mn-lt"/>
              </a:rPr>
              <a:t>Enhance User Experience</a:t>
            </a:r>
            <a:r>
              <a:rPr lang="en-US" sz="2000">
                <a:ea typeface="+mn-lt"/>
                <a:cs typeface="+mn-lt"/>
              </a:rPr>
              <a:t>: Provide meaningful feedback and graceful degradation</a:t>
            </a:r>
          </a:p>
        </p:txBody>
      </p:sp>
      <p:sp>
        <p:nvSpPr>
          <p:cNvPr id="4" name="TextBox 3">
            <a:extLst>
              <a:ext uri="{FF2B5EF4-FFF2-40B4-BE49-F238E27FC236}">
                <a16:creationId xmlns:a16="http://schemas.microsoft.com/office/drawing/2014/main" id="{EDED1661-D796-B6E8-8518-6405C81DAB31}"/>
              </a:ext>
            </a:extLst>
          </p:cNvPr>
          <p:cNvSpPr txBox="1"/>
          <p:nvPr/>
        </p:nvSpPr>
        <p:spPr>
          <a:xfrm>
            <a:off x="837779" y="1391387"/>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solidFill>
                  <a:srgbClr val="FFFFFF"/>
                </a:solidFill>
                <a:latin typeface="Aptos Display"/>
              </a:rPr>
              <a:t>Purpose</a:t>
            </a:r>
            <a:endParaRPr lang="en-US"/>
          </a:p>
        </p:txBody>
      </p:sp>
      <p:pic>
        <p:nvPicPr>
          <p:cNvPr id="10" name="Picture 9" descr="A group of people lifting up red blocks&#10;&#10;AI-generated content may be incorrect.">
            <a:extLst>
              <a:ext uri="{FF2B5EF4-FFF2-40B4-BE49-F238E27FC236}">
                <a16:creationId xmlns:a16="http://schemas.microsoft.com/office/drawing/2014/main" id="{43E5F6FD-E766-C42A-D6F4-EB3EB2D66722}"/>
              </a:ext>
            </a:extLst>
          </p:cNvPr>
          <p:cNvPicPr>
            <a:picLocks noChangeAspect="1"/>
          </p:cNvPicPr>
          <p:nvPr/>
        </p:nvPicPr>
        <p:blipFill>
          <a:blip r:embed="rId2"/>
          <a:stretch>
            <a:fillRect/>
          </a:stretch>
        </p:blipFill>
        <p:spPr>
          <a:xfrm>
            <a:off x="8695641" y="2334309"/>
            <a:ext cx="3612133" cy="2025194"/>
          </a:xfrm>
          <a:prstGeom prst="rect">
            <a:avLst/>
          </a:prstGeom>
        </p:spPr>
      </p:pic>
    </p:spTree>
    <p:extLst>
      <p:ext uri="{BB962C8B-B14F-4D97-AF65-F5344CB8AC3E}">
        <p14:creationId xmlns:p14="http://schemas.microsoft.com/office/powerpoint/2010/main" val="2909795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64F62-4C8B-5751-20B0-0265403CE6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35391-99FB-2C90-33DD-2CDFF7B4B377}"/>
              </a:ext>
            </a:extLst>
          </p:cNvPr>
          <p:cNvSpPr>
            <a:spLocks noGrp="1"/>
          </p:cNvSpPr>
          <p:nvPr>
            <p:ph type="title"/>
          </p:nvPr>
        </p:nvSpPr>
        <p:spPr>
          <a:xfrm>
            <a:off x="838200" y="226197"/>
            <a:ext cx="10515600" cy="1325563"/>
          </a:xfrm>
        </p:spPr>
        <p:txBody>
          <a:bodyPr>
            <a:normAutofit/>
          </a:bodyPr>
          <a:lstStyle/>
          <a:p>
            <a:r>
              <a:rPr lang="en-US" sz="3600">
                <a:ea typeface="+mj-lt"/>
                <a:cs typeface="+mj-lt"/>
              </a:rPr>
              <a:t>Error/Exception-Handling View</a:t>
            </a:r>
          </a:p>
        </p:txBody>
      </p:sp>
      <p:graphicFrame>
        <p:nvGraphicFramePr>
          <p:cNvPr id="8" name="Content Placeholder 2">
            <a:extLst>
              <a:ext uri="{FF2B5EF4-FFF2-40B4-BE49-F238E27FC236}">
                <a16:creationId xmlns:a16="http://schemas.microsoft.com/office/drawing/2014/main" id="{FABEEC8D-C10E-78A1-ED17-0A1E3B2F8EED}"/>
              </a:ext>
            </a:extLst>
          </p:cNvPr>
          <p:cNvGraphicFramePr>
            <a:graphicFrameLocks noGrp="1"/>
          </p:cNvGraphicFramePr>
          <p:nvPr>
            <p:ph idx="1"/>
            <p:extLst>
              <p:ext uri="{D42A27DB-BD31-4B8C-83A1-F6EECF244321}">
                <p14:modId xmlns:p14="http://schemas.microsoft.com/office/powerpoint/2010/main" val="2913425158"/>
              </p:ext>
            </p:extLst>
          </p:nvPr>
        </p:nvGraphicFramePr>
        <p:xfrm>
          <a:off x="838200" y="1994916"/>
          <a:ext cx="8137237" cy="46746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8890FFDC-35A7-3444-93CD-29C3A57AD4F6}"/>
              </a:ext>
            </a:extLst>
          </p:cNvPr>
          <p:cNvSpPr txBox="1"/>
          <p:nvPr/>
        </p:nvSpPr>
        <p:spPr>
          <a:xfrm>
            <a:off x="837779" y="1349287"/>
            <a:ext cx="6096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FFFFFF"/>
                </a:solidFill>
                <a:latin typeface="Aptos"/>
              </a:rPr>
              <a:t>Implementation of Error Handling</a:t>
            </a:r>
            <a:endParaRPr lang="en-US"/>
          </a:p>
        </p:txBody>
      </p:sp>
      <p:pic>
        <p:nvPicPr>
          <p:cNvPr id="90" name="Picture 89" descr="A group of people lifting up red blocks&#10;&#10;AI-generated content may be incorrect.">
            <a:extLst>
              <a:ext uri="{FF2B5EF4-FFF2-40B4-BE49-F238E27FC236}">
                <a16:creationId xmlns:a16="http://schemas.microsoft.com/office/drawing/2014/main" id="{A0AFAEA2-4054-74E1-A67E-7B221E49C036}"/>
              </a:ext>
            </a:extLst>
          </p:cNvPr>
          <p:cNvPicPr>
            <a:picLocks noChangeAspect="1"/>
          </p:cNvPicPr>
          <p:nvPr/>
        </p:nvPicPr>
        <p:blipFill>
          <a:blip r:embed="rId7"/>
          <a:stretch>
            <a:fillRect/>
          </a:stretch>
        </p:blipFill>
        <p:spPr>
          <a:xfrm>
            <a:off x="8697254" y="2311174"/>
            <a:ext cx="3612133" cy="2025194"/>
          </a:xfrm>
          <a:prstGeom prst="rect">
            <a:avLst/>
          </a:prstGeom>
        </p:spPr>
      </p:pic>
    </p:spTree>
    <p:extLst>
      <p:ext uri="{BB962C8B-B14F-4D97-AF65-F5344CB8AC3E}">
        <p14:creationId xmlns:p14="http://schemas.microsoft.com/office/powerpoint/2010/main" val="3956975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11EF1-79EA-79AB-BD3F-B1E7E31402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C1C5F-B854-651C-6D5E-B1A1521BDE62}"/>
              </a:ext>
            </a:extLst>
          </p:cNvPr>
          <p:cNvSpPr>
            <a:spLocks noGrp="1"/>
          </p:cNvSpPr>
          <p:nvPr>
            <p:ph type="title"/>
          </p:nvPr>
        </p:nvSpPr>
        <p:spPr>
          <a:xfrm>
            <a:off x="838200" y="365125"/>
            <a:ext cx="10515600" cy="5883185"/>
          </a:xfrm>
        </p:spPr>
        <p:txBody>
          <a:bodyPr>
            <a:normAutofit/>
          </a:bodyPr>
          <a:lstStyle/>
          <a:p>
            <a:pPr algn="ctr"/>
            <a:r>
              <a:rPr lang="en-US" sz="3600">
                <a:ea typeface="+mj-lt"/>
                <a:cs typeface="+mj-lt"/>
              </a:rPr>
              <a:t>Demo</a:t>
            </a:r>
            <a:endParaRPr lang="en-US"/>
          </a:p>
        </p:txBody>
      </p:sp>
    </p:spTree>
    <p:extLst>
      <p:ext uri="{BB962C8B-B14F-4D97-AF65-F5344CB8AC3E}">
        <p14:creationId xmlns:p14="http://schemas.microsoft.com/office/powerpoint/2010/main" val="2622781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C2E248F-52A6-D13E-311E-31B50FEDAF46}"/>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07E9BA-65FD-4FD1-57F2-901CC506B7C9}"/>
              </a:ext>
            </a:extLst>
          </p:cNvPr>
          <p:cNvSpPr>
            <a:spLocks noGrp="1"/>
          </p:cNvSpPr>
          <p:nvPr>
            <p:ph type="title"/>
          </p:nvPr>
        </p:nvSpPr>
        <p:spPr>
          <a:xfrm>
            <a:off x="841248" y="256032"/>
            <a:ext cx="10506456" cy="1014984"/>
          </a:xfrm>
        </p:spPr>
        <p:txBody>
          <a:bodyPr anchor="b">
            <a:normAutofit/>
          </a:bodyPr>
          <a:lstStyle/>
          <a:p>
            <a:r>
              <a:rPr lang="en-US" sz="4900">
                <a:ea typeface="+mj-lt"/>
                <a:cs typeface="+mj-lt"/>
              </a:rPr>
              <a:t>Iteration 1 - Core setup (Oct 14 – 20)</a:t>
            </a:r>
            <a:endParaRPr lang="en-US"/>
          </a:p>
        </p:txBody>
      </p:sp>
      <p:sp>
        <p:nvSpPr>
          <p:cNvPr id="27" name="Rectangle 2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8" name="Rectangle 2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3" name="Content Placeholder 2">
            <a:extLst>
              <a:ext uri="{FF2B5EF4-FFF2-40B4-BE49-F238E27FC236}">
                <a16:creationId xmlns:a16="http://schemas.microsoft.com/office/drawing/2014/main" id="{F4DFB8B9-18E8-8D78-776A-8A66474C0C67}"/>
              </a:ext>
            </a:extLst>
          </p:cNvPr>
          <p:cNvGraphicFramePr>
            <a:graphicFrameLocks noGrp="1"/>
          </p:cNvGraphicFramePr>
          <p:nvPr>
            <p:ph idx="1"/>
            <p:extLst>
              <p:ext uri="{D42A27DB-BD31-4B8C-83A1-F6EECF244321}">
                <p14:modId xmlns:p14="http://schemas.microsoft.com/office/powerpoint/2010/main" val="3843990925"/>
              </p:ext>
            </p:extLst>
          </p:nvPr>
        </p:nvGraphicFramePr>
        <p:xfrm>
          <a:off x="1080929" y="1770778"/>
          <a:ext cx="10255477" cy="41056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2449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6B0A2748-AB3C-397A-0CDC-FCD4F1E32FD7}"/>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6712C4F-1617-C9CB-E0D4-2B0E9CF09B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17D4C6-3656-4AE3-8E2C-55F51598D993}"/>
              </a:ext>
            </a:extLst>
          </p:cNvPr>
          <p:cNvSpPr>
            <a:spLocks noGrp="1"/>
          </p:cNvSpPr>
          <p:nvPr>
            <p:ph type="title"/>
          </p:nvPr>
        </p:nvSpPr>
        <p:spPr>
          <a:xfrm>
            <a:off x="841248" y="256032"/>
            <a:ext cx="10506456" cy="1014984"/>
          </a:xfrm>
        </p:spPr>
        <p:txBody>
          <a:bodyPr anchor="b">
            <a:normAutofit/>
          </a:bodyPr>
          <a:lstStyle/>
          <a:p>
            <a:r>
              <a:rPr lang="en-US" sz="4000"/>
              <a:t>Iteration 2 - Data &amp; Analysis Core (Oct 21 – Nov 3)</a:t>
            </a:r>
            <a:endParaRPr lang="en-US"/>
          </a:p>
        </p:txBody>
      </p:sp>
      <p:sp>
        <p:nvSpPr>
          <p:cNvPr id="27" name="Rectangle 26">
            <a:extLst>
              <a:ext uri="{FF2B5EF4-FFF2-40B4-BE49-F238E27FC236}">
                <a16:creationId xmlns:a16="http://schemas.microsoft.com/office/drawing/2014/main" id="{D75E0187-C8BC-942F-983A-F5CC6D449A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3" name="Content Placeholder 2">
            <a:extLst>
              <a:ext uri="{FF2B5EF4-FFF2-40B4-BE49-F238E27FC236}">
                <a16:creationId xmlns:a16="http://schemas.microsoft.com/office/drawing/2014/main" id="{AAC3B494-F938-A27B-EABF-FFF533D8100A}"/>
              </a:ext>
            </a:extLst>
          </p:cNvPr>
          <p:cNvGraphicFramePr>
            <a:graphicFrameLocks noGrp="1"/>
          </p:cNvGraphicFramePr>
          <p:nvPr>
            <p:ph idx="1"/>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7" name="Rectangle 86">
            <a:extLst>
              <a:ext uri="{FF2B5EF4-FFF2-40B4-BE49-F238E27FC236}">
                <a16:creationId xmlns:a16="http://schemas.microsoft.com/office/drawing/2014/main" id="{06DDD3D3-2E6D-0E88-A8AD-C51924873B4C}"/>
              </a:ext>
            </a:extLst>
          </p:cNvPr>
          <p:cNvSpPr/>
          <p:nvPr/>
        </p:nvSpPr>
        <p:spPr>
          <a:xfrm>
            <a:off x="2962140" y="1552433"/>
            <a:ext cx="2477580" cy="99936"/>
          </a:xfrm>
          <a:prstGeom prst="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3685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A screenshot of a portfolio manager&#10;&#10;AI-generated content may be incorrect.">
            <a:extLst>
              <a:ext uri="{FF2B5EF4-FFF2-40B4-BE49-F238E27FC236}">
                <a16:creationId xmlns:a16="http://schemas.microsoft.com/office/drawing/2014/main" id="{FE90452E-4287-664D-DE53-BE5A16D9752A}"/>
              </a:ext>
            </a:extLst>
          </p:cNvPr>
          <p:cNvPicPr>
            <a:picLocks noChangeAspect="1"/>
          </p:cNvPicPr>
          <p:nvPr/>
        </p:nvPicPr>
        <p:blipFill>
          <a:blip r:embed="rId2"/>
          <a:srcRect t="10017"/>
          <a:stretch>
            <a:fillRect/>
          </a:stretch>
        </p:blipFill>
        <p:spPr>
          <a:xfrm>
            <a:off x="378198" y="210127"/>
            <a:ext cx="11435624" cy="6433385"/>
          </a:xfrm>
          <a:prstGeom prst="rect">
            <a:avLst/>
          </a:prstGeom>
        </p:spPr>
      </p:pic>
    </p:spTree>
    <p:extLst>
      <p:ext uri="{BB962C8B-B14F-4D97-AF65-F5344CB8AC3E}">
        <p14:creationId xmlns:p14="http://schemas.microsoft.com/office/powerpoint/2010/main" val="2766487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BAE59CCE-E98A-9C67-3D70-86A20D9EFE88}"/>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9B5DF62-EE58-3C7D-5BE6-B0B943956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D6C0DC-254C-8ED6-446C-6AEFFC4EE6F5}"/>
              </a:ext>
            </a:extLst>
          </p:cNvPr>
          <p:cNvSpPr>
            <a:spLocks noGrp="1"/>
          </p:cNvSpPr>
          <p:nvPr>
            <p:ph type="title"/>
          </p:nvPr>
        </p:nvSpPr>
        <p:spPr>
          <a:xfrm>
            <a:off x="841248" y="256032"/>
            <a:ext cx="10506456" cy="1014984"/>
          </a:xfrm>
        </p:spPr>
        <p:txBody>
          <a:bodyPr anchor="b">
            <a:normAutofit/>
          </a:bodyPr>
          <a:lstStyle/>
          <a:p>
            <a:r>
              <a:rPr lang="en-US" sz="4000">
                <a:ea typeface="+mj-lt"/>
                <a:cs typeface="+mj-lt"/>
              </a:rPr>
              <a:t>Iteration 3 – Intelligence &amp; Alerts (Nov 4 – Nov 17)</a:t>
            </a:r>
            <a:endParaRPr lang="en-US">
              <a:ea typeface="+mj-lt"/>
              <a:cs typeface="+mj-lt"/>
            </a:endParaRPr>
          </a:p>
        </p:txBody>
      </p:sp>
      <p:sp>
        <p:nvSpPr>
          <p:cNvPr id="27" name="Rectangle 26">
            <a:extLst>
              <a:ext uri="{FF2B5EF4-FFF2-40B4-BE49-F238E27FC236}">
                <a16:creationId xmlns:a16="http://schemas.microsoft.com/office/drawing/2014/main" id="{B5C7439A-A01C-EFB6-0D7A-B55E939E37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3" name="Content Placeholder 2">
            <a:extLst>
              <a:ext uri="{FF2B5EF4-FFF2-40B4-BE49-F238E27FC236}">
                <a16:creationId xmlns:a16="http://schemas.microsoft.com/office/drawing/2014/main" id="{86209922-0A41-1693-3E78-3F631CD59824}"/>
              </a:ext>
            </a:extLst>
          </p:cNvPr>
          <p:cNvGraphicFramePr>
            <a:graphicFrameLocks noGrp="1"/>
          </p:cNvGraphicFramePr>
          <p:nvPr>
            <p:ph idx="1"/>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7" name="Rectangle 86">
            <a:extLst>
              <a:ext uri="{FF2B5EF4-FFF2-40B4-BE49-F238E27FC236}">
                <a16:creationId xmlns:a16="http://schemas.microsoft.com/office/drawing/2014/main" id="{B7A4F32D-CEEF-D13B-202E-5CA012C6C069}"/>
              </a:ext>
            </a:extLst>
          </p:cNvPr>
          <p:cNvSpPr/>
          <p:nvPr/>
        </p:nvSpPr>
        <p:spPr>
          <a:xfrm>
            <a:off x="5945746" y="1561562"/>
            <a:ext cx="2715295" cy="91225"/>
          </a:xfrm>
          <a:prstGeom prst="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8527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90A88F42-4AED-E633-E0A6-D14967E56E22}"/>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5FCF37B-DDF2-6C8F-7DD3-4CB302684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2DAB2E-DA9A-17F3-6B72-53789B93DC64}"/>
              </a:ext>
            </a:extLst>
          </p:cNvPr>
          <p:cNvSpPr>
            <a:spLocks noGrp="1"/>
          </p:cNvSpPr>
          <p:nvPr>
            <p:ph type="title"/>
          </p:nvPr>
        </p:nvSpPr>
        <p:spPr>
          <a:xfrm>
            <a:off x="841248" y="256032"/>
            <a:ext cx="10506456" cy="1014984"/>
          </a:xfrm>
        </p:spPr>
        <p:txBody>
          <a:bodyPr anchor="b">
            <a:normAutofit fontScale="90000"/>
          </a:bodyPr>
          <a:lstStyle/>
          <a:p>
            <a:r>
              <a:rPr lang="en-US" sz="4000">
                <a:ea typeface="+mj-lt"/>
                <a:cs typeface="+mj-lt"/>
              </a:rPr>
              <a:t>Iteration 4 – Integration &amp; Finalization (Nov 18 – Dec 1)</a:t>
            </a:r>
            <a:endParaRPr lang="en-US">
              <a:ea typeface="+mj-lt"/>
              <a:cs typeface="+mj-lt"/>
            </a:endParaRPr>
          </a:p>
        </p:txBody>
      </p:sp>
      <p:sp>
        <p:nvSpPr>
          <p:cNvPr id="27" name="Rectangle 26">
            <a:extLst>
              <a:ext uri="{FF2B5EF4-FFF2-40B4-BE49-F238E27FC236}">
                <a16:creationId xmlns:a16="http://schemas.microsoft.com/office/drawing/2014/main" id="{49B26570-FB54-5F73-812A-8D797043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3" name="Content Placeholder 2">
            <a:extLst>
              <a:ext uri="{FF2B5EF4-FFF2-40B4-BE49-F238E27FC236}">
                <a16:creationId xmlns:a16="http://schemas.microsoft.com/office/drawing/2014/main" id="{D42387DB-0E31-B941-6EF4-A58DDBC62301}"/>
              </a:ext>
            </a:extLst>
          </p:cNvPr>
          <p:cNvGraphicFramePr>
            <a:graphicFrameLocks noGrp="1"/>
          </p:cNvGraphicFramePr>
          <p:nvPr>
            <p:ph idx="1"/>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7" name="Rectangle 86">
            <a:extLst>
              <a:ext uri="{FF2B5EF4-FFF2-40B4-BE49-F238E27FC236}">
                <a16:creationId xmlns:a16="http://schemas.microsoft.com/office/drawing/2014/main" id="{D6C26E55-21A0-16BB-745E-1CFECD916FA1}"/>
              </a:ext>
            </a:extLst>
          </p:cNvPr>
          <p:cNvSpPr/>
          <p:nvPr/>
        </p:nvSpPr>
        <p:spPr>
          <a:xfrm>
            <a:off x="9012842" y="1542537"/>
            <a:ext cx="2336664" cy="99100"/>
          </a:xfrm>
          <a:prstGeom prst="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612749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24</Slides>
  <Notes>0</Notes>
  <HiddenSlides>5</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Stock Research Application Project Progress Report #2</vt:lpstr>
      <vt:lpstr>Agenda</vt:lpstr>
      <vt:lpstr>System Responsibilities and Capabilities</vt:lpstr>
      <vt:lpstr>PowerPoint Presentation</vt:lpstr>
      <vt:lpstr>Module View - Layered</vt:lpstr>
      <vt:lpstr>PowerPoint Presentation</vt:lpstr>
      <vt:lpstr>Rationale and Benefits​</vt:lpstr>
      <vt:lpstr>Component and Connector View</vt:lpstr>
      <vt:lpstr>Component and Connector View</vt:lpstr>
      <vt:lpstr>Quality Views - Security</vt:lpstr>
      <vt:lpstr>Security View</vt:lpstr>
      <vt:lpstr>Security View</vt:lpstr>
      <vt:lpstr>Quality Views - Communication</vt:lpstr>
      <vt:lpstr>Communication View</vt:lpstr>
      <vt:lpstr>Communication View</vt:lpstr>
      <vt:lpstr>Quality View – Error/Exception Handling</vt:lpstr>
      <vt:lpstr>Error/Exception-Handling View</vt:lpstr>
      <vt:lpstr>Error/Exception-Handling View</vt:lpstr>
      <vt:lpstr>Demo</vt:lpstr>
      <vt:lpstr>Iteration 1 - Core setup (Oct 14 – 20)</vt:lpstr>
      <vt:lpstr>Iteration 2 - Data &amp; Analysis Core (Oct 21 – Nov 3)</vt:lpstr>
      <vt:lpstr>PowerPoint Presentation</vt:lpstr>
      <vt:lpstr>Iteration 3 – Intelligence &amp; Alerts (Nov 4 – Nov 17)</vt:lpstr>
      <vt:lpstr>Iteration 4 – Integration &amp; Finalization (Nov 18 – Dec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Research Application Project Progress Report #2</dc:title>
  <dc:creator/>
  <cp:revision>3</cp:revision>
  <dcterms:created xsi:type="dcterms:W3CDTF">2025-10-14T23:01:34Z</dcterms:created>
  <dcterms:modified xsi:type="dcterms:W3CDTF">2025-11-13T22:59:01Z</dcterms:modified>
</cp:coreProperties>
</file>